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68" r:id="rId16"/>
    <p:sldId id="272" r:id="rId17"/>
    <p:sldId id="273" r:id="rId18"/>
    <p:sldId id="276" r:id="rId19"/>
    <p:sldId id="274" r:id="rId20"/>
    <p:sldId id="277" r:id="rId21"/>
    <p:sldId id="278"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75" d="100"/>
          <a:sy n="75" d="100"/>
        </p:scale>
        <p:origin x="931"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3EE30-54D1-18AD-A4EE-3550026A9A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2BAE12-95C9-4832-BB0E-B55D183C28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C58A1D-F02B-E42A-70E6-3191DDAD762D}"/>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5" name="Footer Placeholder 4">
            <a:extLst>
              <a:ext uri="{FF2B5EF4-FFF2-40B4-BE49-F238E27FC236}">
                <a16:creationId xmlns:a16="http://schemas.microsoft.com/office/drawing/2014/main" id="{5773763F-252F-1A96-F0AD-89DD4C70E6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FEC628-0FCF-61E2-C905-685B9DDAB877}"/>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3788052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84CF8-1CB7-FDF1-F9FA-E413B491B2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3C06ED-B021-8BAC-B988-AF8F98D9DE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ABDA8-B14C-B5E0-86F7-EB52F46405CD}"/>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5" name="Footer Placeholder 4">
            <a:extLst>
              <a:ext uri="{FF2B5EF4-FFF2-40B4-BE49-F238E27FC236}">
                <a16:creationId xmlns:a16="http://schemas.microsoft.com/office/drawing/2014/main" id="{EE2EEEA6-9BDC-193C-A0CE-5AE2D899D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0062E-C888-1935-5642-22BE54F7909D}"/>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50236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16A82-296C-8991-48C5-553669B7D9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A2450F-D3B6-EBF1-69F1-0CB26D9D2F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E822DB-7B93-F09B-E10B-A258F9F78769}"/>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5" name="Footer Placeholder 4">
            <a:extLst>
              <a:ext uri="{FF2B5EF4-FFF2-40B4-BE49-F238E27FC236}">
                <a16:creationId xmlns:a16="http://schemas.microsoft.com/office/drawing/2014/main" id="{1E9CF6F0-5305-4D1C-3E34-F9776B341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42215D-675F-F185-D63F-59F78B432DB2}"/>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1274109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AEC71-948F-F148-69D0-4B820B9880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5F8DD8-666C-7D23-B635-E8BAF50ADF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8F5015-07D9-F823-CC88-23B2BD2DAE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6351B3-1FEC-2D25-1EB6-ED60BA3F580B}"/>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6" name="Footer Placeholder 5">
            <a:extLst>
              <a:ext uri="{FF2B5EF4-FFF2-40B4-BE49-F238E27FC236}">
                <a16:creationId xmlns:a16="http://schemas.microsoft.com/office/drawing/2014/main" id="{ED12E889-2650-9904-D2E8-C2C3762CB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20E0E2-3528-72F0-0EC6-2DC742A155D1}"/>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336555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99D71-D8F8-56B1-0BEA-A4E87240A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65F885-D746-3DD5-BFE5-35A10ED0B1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325C70-F98A-48C3-0ECF-3047D8C38A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81C3A9-6D75-1738-4049-6EED30FAEA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A56097-B296-2E05-403A-F666042A3D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ABF8B3-CD7A-33EF-0E62-C1010DE50DC9}"/>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8" name="Footer Placeholder 7">
            <a:extLst>
              <a:ext uri="{FF2B5EF4-FFF2-40B4-BE49-F238E27FC236}">
                <a16:creationId xmlns:a16="http://schemas.microsoft.com/office/drawing/2014/main" id="{0E43865F-3CD1-6CF9-77D3-075238B9E9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8C1912-EC50-D1A0-2ABD-FC37B97A892A}"/>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1811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D088-085A-C79E-329D-7F7657AB91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EAE2C2-BDF1-EDD9-0702-FB3A41B976F4}"/>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4" name="Footer Placeholder 3">
            <a:extLst>
              <a:ext uri="{FF2B5EF4-FFF2-40B4-BE49-F238E27FC236}">
                <a16:creationId xmlns:a16="http://schemas.microsoft.com/office/drawing/2014/main" id="{D3A438EC-FC42-DA96-AD44-B5D3DBC3D5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0796B4-4567-CA73-8AB3-2BF8BC93B1C3}"/>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54302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9ED168-AF55-FBE3-4A5E-5299056D10F6}"/>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3" name="Footer Placeholder 2">
            <a:extLst>
              <a:ext uri="{FF2B5EF4-FFF2-40B4-BE49-F238E27FC236}">
                <a16:creationId xmlns:a16="http://schemas.microsoft.com/office/drawing/2014/main" id="{790E2B2D-3CDB-7BFC-90C0-063C62DC85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3ACCFE-16CC-71EB-B01C-3EE7772DBBEE}"/>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2309806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BA71-7BBD-CCE2-BDB0-86813C38D8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91E58C-AA28-839C-1002-B61C91775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F90BE-1496-2E6C-8A3A-B8D1FB5520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EF6D2-0789-68BE-0B11-A17443EBCCC6}"/>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6" name="Footer Placeholder 5">
            <a:extLst>
              <a:ext uri="{FF2B5EF4-FFF2-40B4-BE49-F238E27FC236}">
                <a16:creationId xmlns:a16="http://schemas.microsoft.com/office/drawing/2014/main" id="{BC62668C-656F-BB1B-98A8-83A55D73BE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B49A91-A409-E939-45E4-D194E6E865F2}"/>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3948810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4CFD-64F2-032C-1377-F22A562E6C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0268BC-A029-DC77-2810-9C6ED9F3F7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E7A032-05A8-3987-9782-90314262D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FEC6CF-47D2-55A3-5B70-AC11EDFB6E89}"/>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6" name="Footer Placeholder 5">
            <a:extLst>
              <a:ext uri="{FF2B5EF4-FFF2-40B4-BE49-F238E27FC236}">
                <a16:creationId xmlns:a16="http://schemas.microsoft.com/office/drawing/2014/main" id="{D450EADB-11A9-71AA-4F86-F648FDDC7C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3FD75-5250-49FF-191D-1D02DDF2D8EC}"/>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3264361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D1CBB-F923-D12D-ACD5-E05489E209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4F2FBE-61E2-4BE0-18E6-0D587013C9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53B508-9811-FFA8-CE76-C07B6F799D11}"/>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5" name="Footer Placeholder 4">
            <a:extLst>
              <a:ext uri="{FF2B5EF4-FFF2-40B4-BE49-F238E27FC236}">
                <a16:creationId xmlns:a16="http://schemas.microsoft.com/office/drawing/2014/main" id="{837F1FD4-4756-ED11-22FA-F9BF01EAF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88F98-A16C-11EF-A84D-7F08D0C56D94}"/>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4237817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C42CD-A959-C67D-B1C8-2E62CDF004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0860C7-E73A-1D02-EAA5-EF45A59B61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127804-A407-660E-D565-02D01AD96919}"/>
              </a:ext>
            </a:extLst>
          </p:cNvPr>
          <p:cNvSpPr>
            <a:spLocks noGrp="1"/>
          </p:cNvSpPr>
          <p:nvPr>
            <p:ph type="dt" sz="half" idx="10"/>
          </p:nvPr>
        </p:nvSpPr>
        <p:spPr/>
        <p:txBody>
          <a:bodyPr/>
          <a:lstStyle/>
          <a:p>
            <a:fld id="{F523F3A2-7671-46B4-A946-9ABC7EF0E8E5}" type="datetimeFigureOut">
              <a:rPr lang="en-US" smtClean="0"/>
              <a:t>1/12/2026</a:t>
            </a:fld>
            <a:endParaRPr lang="en-US"/>
          </a:p>
        </p:txBody>
      </p:sp>
      <p:sp>
        <p:nvSpPr>
          <p:cNvPr id="5" name="Footer Placeholder 4">
            <a:extLst>
              <a:ext uri="{FF2B5EF4-FFF2-40B4-BE49-F238E27FC236}">
                <a16:creationId xmlns:a16="http://schemas.microsoft.com/office/drawing/2014/main" id="{E3483D15-E94A-EDB8-27D3-4EAB749A87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2E2F1C-4865-49FC-AA18-2F27311D6A9A}"/>
              </a:ext>
            </a:extLst>
          </p:cNvPr>
          <p:cNvSpPr>
            <a:spLocks noGrp="1"/>
          </p:cNvSpPr>
          <p:nvPr>
            <p:ph type="sldNum" sz="quarter" idx="12"/>
          </p:nvPr>
        </p:nvSpPr>
        <p:spPr/>
        <p:txBody>
          <a:bodyPr/>
          <a:lstStyle/>
          <a:p>
            <a:fld id="{3F795800-27EC-4C14-B86B-C4C6DBAD3D1C}" type="slidenum">
              <a:rPr lang="en-US" smtClean="0"/>
              <a:t>‹#›</a:t>
            </a:fld>
            <a:endParaRPr lang="en-US"/>
          </a:p>
        </p:txBody>
      </p:sp>
    </p:spTree>
    <p:extLst>
      <p:ext uri="{BB962C8B-B14F-4D97-AF65-F5344CB8AC3E}">
        <p14:creationId xmlns:p14="http://schemas.microsoft.com/office/powerpoint/2010/main" val="185752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EFA34F-BFD9-A603-CD7C-F159AEC3FE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44BA55-7B83-A488-EED0-4B06EE9BD3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6D5EBE-3D8B-9DBA-AA4C-350EA2ADF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23F3A2-7671-46B4-A946-9ABC7EF0E8E5}" type="datetimeFigureOut">
              <a:rPr lang="en-US" smtClean="0"/>
              <a:t>1/12/2026</a:t>
            </a:fld>
            <a:endParaRPr lang="en-US"/>
          </a:p>
        </p:txBody>
      </p:sp>
      <p:sp>
        <p:nvSpPr>
          <p:cNvPr id="5" name="Footer Placeholder 4">
            <a:extLst>
              <a:ext uri="{FF2B5EF4-FFF2-40B4-BE49-F238E27FC236}">
                <a16:creationId xmlns:a16="http://schemas.microsoft.com/office/drawing/2014/main" id="{68C054A2-3632-7F26-4DDC-006DFCA437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1A6F1D-0F63-A1F6-E83B-8C1D7488A0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795800-27EC-4C14-B86B-C4C6DBAD3D1C}" type="slidenum">
              <a:rPr lang="en-US" smtClean="0"/>
              <a:t>‹#›</a:t>
            </a:fld>
            <a:endParaRPr lang="en-US"/>
          </a:p>
        </p:txBody>
      </p:sp>
    </p:spTree>
    <p:extLst>
      <p:ext uri="{BB962C8B-B14F-4D97-AF65-F5344CB8AC3E}">
        <p14:creationId xmlns:p14="http://schemas.microsoft.com/office/powerpoint/2010/main" val="351631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71CC9-F711-5817-AE01-678CEECC075D}"/>
              </a:ext>
            </a:extLst>
          </p:cNvPr>
          <p:cNvSpPr>
            <a:spLocks noGrp="1"/>
          </p:cNvSpPr>
          <p:nvPr>
            <p:ph type="ctrTitle"/>
          </p:nvPr>
        </p:nvSpPr>
        <p:spPr>
          <a:xfrm>
            <a:off x="1371599" y="216429"/>
            <a:ext cx="9144000" cy="1053571"/>
          </a:xfrm>
        </p:spPr>
        <p:txBody>
          <a:bodyPr>
            <a:noAutofit/>
          </a:bodyPr>
          <a:lstStyle/>
          <a:p>
            <a:r>
              <a:rPr lang="en-US" sz="3200" b="1" dirty="0">
                <a:latin typeface="Arial" panose="020B0604020202020204" pitchFamily="34" charset="0"/>
                <a:cs typeface="Arial" panose="020B0604020202020204" pitchFamily="34" charset="0"/>
              </a:rPr>
              <a:t>TRƯỜNG KỸ THUẬT VÀ CÔNG NGHỆ</a:t>
            </a:r>
            <a:br>
              <a:rPr lang="en-US" sz="3200" b="1" dirty="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	KHOA CÔNG NGHỆ THÔNG TIN</a:t>
            </a:r>
            <a:endParaRPr lang="en-US" sz="4000" dirty="0"/>
          </a:p>
        </p:txBody>
      </p:sp>
      <p:sp>
        <p:nvSpPr>
          <p:cNvPr id="3" name="Subtitle 2">
            <a:extLst>
              <a:ext uri="{FF2B5EF4-FFF2-40B4-BE49-F238E27FC236}">
                <a16:creationId xmlns:a16="http://schemas.microsoft.com/office/drawing/2014/main" id="{320779DA-C9C4-7741-E010-2F491F74F877}"/>
              </a:ext>
            </a:extLst>
          </p:cNvPr>
          <p:cNvSpPr>
            <a:spLocks noGrp="1"/>
          </p:cNvSpPr>
          <p:nvPr>
            <p:ph type="subTitle" idx="1"/>
          </p:nvPr>
        </p:nvSpPr>
        <p:spPr>
          <a:xfrm>
            <a:off x="3217333" y="4262127"/>
            <a:ext cx="5698067" cy="1655762"/>
          </a:xfrm>
        </p:spPr>
        <p:txBody>
          <a:bodyPr>
            <a:normAutofit lnSpcReduction="10000"/>
          </a:bodyPr>
          <a:lstStyle/>
          <a:p>
            <a:pPr algn="just"/>
            <a:r>
              <a:rPr lang="en-US" dirty="0">
                <a:latin typeface="Arial" panose="020B0604020202020204" pitchFamily="34" charset="0"/>
                <a:cs typeface="Arial" panose="020B0604020202020204" pitchFamily="34" charset="0"/>
              </a:rPr>
              <a:t>GVHD: </a:t>
            </a:r>
            <a:r>
              <a:rPr lang="en-US" dirty="0" err="1">
                <a:latin typeface="Arial" panose="020B0604020202020204" pitchFamily="34" charset="0"/>
                <a:cs typeface="Arial" panose="020B0604020202020204" pitchFamily="34" charset="0"/>
              </a:rPr>
              <a:t>ThS</a:t>
            </a:r>
            <a:r>
              <a:rPr lang="en-US" dirty="0">
                <a:latin typeface="Arial" panose="020B0604020202020204" pitchFamily="34" charset="0"/>
                <a:cs typeface="Arial" panose="020B0604020202020204" pitchFamily="34" charset="0"/>
              </a:rPr>
              <a:t>. Dương Ngọc Vân Khanh</a:t>
            </a:r>
          </a:p>
          <a:p>
            <a:pPr algn="just"/>
            <a:r>
              <a:rPr lang="en-US" dirty="0">
                <a:latin typeface="Arial" panose="020B0604020202020204" pitchFamily="34" charset="0"/>
                <a:cs typeface="Arial" panose="020B0604020202020204" pitchFamily="34" charset="0"/>
              </a:rPr>
              <a:t>SVTH: </a:t>
            </a:r>
            <a:r>
              <a:rPr lang="vi-VN" dirty="0">
                <a:latin typeface="Arial" panose="020B0604020202020204" pitchFamily="34" charset="0"/>
                <a:cs typeface="Arial" panose="020B0604020202020204" pitchFamily="34" charset="0"/>
              </a:rPr>
              <a:t>Đặng Thái Bảo</a:t>
            </a:r>
          </a:p>
          <a:p>
            <a:pPr algn="just"/>
            <a:r>
              <a:rPr lang="en-US" dirty="0">
                <a:latin typeface="Arial" panose="020B0604020202020204" pitchFamily="34" charset="0"/>
                <a:cs typeface="Arial" panose="020B0604020202020204" pitchFamily="34" charset="0"/>
              </a:rPr>
              <a:t>MSSV: </a:t>
            </a:r>
            <a:r>
              <a:rPr lang="vi-VN" dirty="0">
                <a:latin typeface="Arial" panose="020B0604020202020204" pitchFamily="34" charset="0"/>
                <a:cs typeface="Arial" panose="020B0604020202020204" pitchFamily="34" charset="0"/>
              </a:rPr>
              <a:t>110123072</a:t>
            </a:r>
            <a:endParaRPr lang="en-US" dirty="0">
              <a:latin typeface="Arial" panose="020B0604020202020204" pitchFamily="34" charset="0"/>
              <a:cs typeface="Arial" panose="020B0604020202020204" pitchFamily="34" charset="0"/>
            </a:endParaRPr>
          </a:p>
          <a:p>
            <a:pPr algn="just"/>
            <a:r>
              <a:rPr lang="en-US" dirty="0" err="1">
                <a:latin typeface="Arial" panose="020B0604020202020204" pitchFamily="34" charset="0"/>
                <a:cs typeface="Arial" panose="020B0604020202020204" pitchFamily="34" charset="0"/>
              </a:rPr>
              <a:t>Lớp</a:t>
            </a:r>
            <a:r>
              <a:rPr lang="en-US" dirty="0">
                <a:latin typeface="Arial" panose="020B0604020202020204" pitchFamily="34" charset="0"/>
                <a:cs typeface="Arial" panose="020B0604020202020204" pitchFamily="34" charset="0"/>
              </a:rPr>
              <a:t>: DA23TTB</a:t>
            </a:r>
          </a:p>
          <a:p>
            <a:endParaRPr lang="en-US" dirty="0"/>
          </a:p>
        </p:txBody>
      </p:sp>
      <p:pic>
        <p:nvPicPr>
          <p:cNvPr id="4" name="Picture 3">
            <a:extLst>
              <a:ext uri="{FF2B5EF4-FFF2-40B4-BE49-F238E27FC236}">
                <a16:creationId xmlns:a16="http://schemas.microsoft.com/office/drawing/2014/main" id="{8DF39961-1190-37A2-7234-3FBA03D8480D}"/>
              </a:ext>
            </a:extLst>
          </p:cNvPr>
          <p:cNvPicPr>
            <a:picLocks noChangeAspect="1"/>
          </p:cNvPicPr>
          <p:nvPr/>
        </p:nvPicPr>
        <p:blipFill>
          <a:blip r:embed="rId2"/>
          <a:stretch>
            <a:fillRect/>
          </a:stretch>
        </p:blipFill>
        <p:spPr>
          <a:xfrm>
            <a:off x="0" y="0"/>
            <a:ext cx="1774090" cy="1767993"/>
          </a:xfrm>
          <a:prstGeom prst="rect">
            <a:avLst/>
          </a:prstGeom>
        </p:spPr>
      </p:pic>
      <p:sp>
        <p:nvSpPr>
          <p:cNvPr id="5" name="TextBox 4">
            <a:extLst>
              <a:ext uri="{FF2B5EF4-FFF2-40B4-BE49-F238E27FC236}">
                <a16:creationId xmlns:a16="http://schemas.microsoft.com/office/drawing/2014/main" id="{4D0ACDDA-AED0-52F3-3D78-A820B86E867D}"/>
              </a:ext>
            </a:extLst>
          </p:cNvPr>
          <p:cNvSpPr txBox="1"/>
          <p:nvPr/>
        </p:nvSpPr>
        <p:spPr>
          <a:xfrm>
            <a:off x="3577165" y="1700260"/>
            <a:ext cx="4732867" cy="584775"/>
          </a:xfrm>
          <a:prstGeom prst="rect">
            <a:avLst/>
          </a:prstGeom>
          <a:noFill/>
        </p:spPr>
        <p:txBody>
          <a:bodyPr wrap="square" rtlCol="0">
            <a:spAutoFit/>
          </a:bodyPr>
          <a:lstStyle/>
          <a:p>
            <a:r>
              <a:rPr lang="vi-VN" sz="3200" dirty="0"/>
              <a:t>ĐỒ ÁN CƠ SỞ NGÀNH</a:t>
            </a:r>
            <a:endParaRPr lang="en-US" sz="3200" dirty="0"/>
          </a:p>
        </p:txBody>
      </p:sp>
      <p:sp>
        <p:nvSpPr>
          <p:cNvPr id="6" name="TextBox 5">
            <a:extLst>
              <a:ext uri="{FF2B5EF4-FFF2-40B4-BE49-F238E27FC236}">
                <a16:creationId xmlns:a16="http://schemas.microsoft.com/office/drawing/2014/main" id="{3FE03DE0-12AE-CCE4-33B0-DB0B24E5C7E7}"/>
              </a:ext>
            </a:extLst>
          </p:cNvPr>
          <p:cNvSpPr txBox="1"/>
          <p:nvPr/>
        </p:nvSpPr>
        <p:spPr>
          <a:xfrm>
            <a:off x="1583267" y="2715295"/>
            <a:ext cx="8822267" cy="1077218"/>
          </a:xfrm>
          <a:prstGeom prst="rect">
            <a:avLst/>
          </a:prstGeom>
          <a:noFill/>
        </p:spPr>
        <p:txBody>
          <a:bodyPr wrap="square" rtlCol="0">
            <a:spAutoFit/>
          </a:bodyPr>
          <a:lstStyle/>
          <a:p>
            <a:pPr algn="ctr"/>
            <a:r>
              <a:rPr lang="en-US" sz="3200" dirty="0"/>
              <a:t>XÂY DỰNG WEBSITE GIỚI THIỆU CÁC SẢN PHẨM OCOP TRONG TỈNH VĨNH LONG</a:t>
            </a:r>
          </a:p>
        </p:txBody>
      </p:sp>
      <p:cxnSp>
        <p:nvCxnSpPr>
          <p:cNvPr id="7" name="Straight Connector 6">
            <a:extLst>
              <a:ext uri="{FF2B5EF4-FFF2-40B4-BE49-F238E27FC236}">
                <a16:creationId xmlns:a16="http://schemas.microsoft.com/office/drawing/2014/main" id="{2D019A2E-5080-15F8-E28A-54E687A3C941}"/>
              </a:ext>
            </a:extLst>
          </p:cNvPr>
          <p:cNvCxnSpPr>
            <a:cxnSpLocks/>
          </p:cNvCxnSpPr>
          <p:nvPr/>
        </p:nvCxnSpPr>
        <p:spPr>
          <a:xfrm>
            <a:off x="2717800" y="3940386"/>
            <a:ext cx="6400800" cy="0"/>
          </a:xfrm>
          <a:prstGeom prst="line">
            <a:avLst/>
          </a:prstGeom>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255292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865B5-689A-814C-CE0E-CDA23ECE8CC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NỘI DUNG</a:t>
            </a:r>
          </a:p>
        </p:txBody>
      </p:sp>
      <p:sp>
        <p:nvSpPr>
          <p:cNvPr id="3" name="Content Placeholder 2">
            <a:extLst>
              <a:ext uri="{FF2B5EF4-FFF2-40B4-BE49-F238E27FC236}">
                <a16:creationId xmlns:a16="http://schemas.microsoft.com/office/drawing/2014/main" id="{DC8F075E-1B85-9514-206A-C91AFCE87EAA}"/>
              </a:ext>
            </a:extLst>
          </p:cNvPr>
          <p:cNvSpPr>
            <a:spLocks noGrp="1"/>
          </p:cNvSpPr>
          <p:nvPr>
            <p:ph idx="1"/>
          </p:nvPr>
        </p:nvSpPr>
        <p:spPr/>
        <p:txBody>
          <a:bodyPr/>
          <a:lstStyle/>
          <a:p>
            <a:pPr marL="514350" indent="-514350" algn="just">
              <a:buAutoNum type="arabicPeriod"/>
            </a:pPr>
            <a:r>
              <a:rPr lang="en-US" dirty="0" err="1">
                <a:latin typeface="Arial" panose="020B0604020202020204" pitchFamily="34" charset="0"/>
                <a:cs typeface="Arial" panose="020B0604020202020204" pitchFamily="34" charset="0"/>
              </a:rPr>
              <a:t>Tổng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endParaRPr lang="en-US" dirty="0">
              <a:latin typeface="Arial" panose="020B0604020202020204" pitchFamily="34" charset="0"/>
              <a:cs typeface="Arial" panose="020B0604020202020204" pitchFamily="34" charset="0"/>
            </a:endParaRPr>
          </a:p>
          <a:p>
            <a:pPr marL="514350" indent="-514350" algn="just">
              <a:buAutoNum type="arabicPeriod"/>
            </a:pPr>
            <a:r>
              <a:rPr lang="en-US" dirty="0" err="1">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thuyết</a:t>
            </a:r>
            <a:r>
              <a:rPr lang="en-US" dirty="0">
                <a:latin typeface="Arial" panose="020B0604020202020204" pitchFamily="34" charset="0"/>
                <a:cs typeface="Arial" panose="020B0604020202020204" pitchFamily="34" charset="0"/>
              </a:rPr>
              <a:t> </a:t>
            </a:r>
          </a:p>
          <a:p>
            <a:pPr marL="514350" indent="-514350" algn="just">
              <a:buAutoNum type="arabicPeriod"/>
            </a:pPr>
            <a:r>
              <a:rPr lang="vi-VN" dirty="0">
                <a:latin typeface="Arial" panose="020B0604020202020204" pitchFamily="34" charset="0"/>
                <a:cs typeface="Arial" panose="020B0604020202020204" pitchFamily="34" charset="0"/>
              </a:rPr>
              <a:t>Hiện thực hóa nghiên cứu</a:t>
            </a:r>
          </a:p>
          <a:p>
            <a:pPr marL="514350" indent="-514350" algn="just">
              <a:buAutoNum type="arabicPeriod"/>
            </a:pP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cứu</a:t>
            </a:r>
            <a:endParaRPr lang="en-US" dirty="0">
              <a:latin typeface="Arial" panose="020B0604020202020204" pitchFamily="34" charset="0"/>
              <a:cs typeface="Arial" panose="020B0604020202020204" pitchFamily="34" charset="0"/>
            </a:endParaRPr>
          </a:p>
          <a:p>
            <a:pPr marL="514350" indent="-514350" algn="just">
              <a:buAutoNum type="arabicPeriod"/>
            </a:pP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hướng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210860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DCE68-F6C9-BA2A-D608-570B2555F757}"/>
              </a:ext>
            </a:extLst>
          </p:cNvPr>
          <p:cNvSpPr>
            <a:spLocks noGrp="1"/>
          </p:cNvSpPr>
          <p:nvPr>
            <p:ph type="title"/>
          </p:nvPr>
        </p:nvSpPr>
        <p:spPr/>
        <p:txBody>
          <a:bodyPr/>
          <a:lstStyle/>
          <a:p>
            <a:pPr marL="742950" indent="-742950">
              <a:buFont typeface="+mj-lt"/>
              <a:buAutoNum type="arabicPeriod"/>
            </a:pPr>
            <a:r>
              <a:rPr lang="vi-VN" dirty="0">
                <a:latin typeface="+mn-lt"/>
              </a:rPr>
              <a:t>TỔNG QUAN VỀ ĐỀ TÀI</a:t>
            </a:r>
            <a:endParaRPr lang="en-US" dirty="0">
              <a:latin typeface="+mn-lt"/>
            </a:endParaRPr>
          </a:p>
        </p:txBody>
      </p:sp>
      <p:sp>
        <p:nvSpPr>
          <p:cNvPr id="3" name="Content Placeholder 2">
            <a:extLst>
              <a:ext uri="{FF2B5EF4-FFF2-40B4-BE49-F238E27FC236}">
                <a16:creationId xmlns:a16="http://schemas.microsoft.com/office/drawing/2014/main" id="{4FF8C285-EDA3-6669-1430-C8BA4B0CED4F}"/>
              </a:ext>
            </a:extLst>
          </p:cNvPr>
          <p:cNvSpPr>
            <a:spLocks noGrp="1"/>
          </p:cNvSpPr>
          <p:nvPr>
            <p:ph idx="1"/>
          </p:nvPr>
        </p:nvSpPr>
        <p:spPr/>
        <p:txBody>
          <a:bodyPr/>
          <a:lstStyle/>
          <a:p>
            <a:pPr marL="0" indent="0" algn="just">
              <a:buNone/>
            </a:pPr>
            <a:r>
              <a:rPr lang="vi-VN" dirty="0">
                <a:latin typeface="Arial" panose="020B0604020202020204" pitchFamily="34" charset="0"/>
                <a:cs typeface="Arial" panose="020B0604020202020204" pitchFamily="34" charset="0"/>
              </a:rPr>
              <a:t>Lý do chọn đề tài:</a:t>
            </a:r>
          </a:p>
          <a:p>
            <a:pPr algn="just"/>
            <a:r>
              <a:rPr lang="vi-VN" dirty="0"/>
              <a:t>Ngày nay, người tiêu dùng ngày càng chú trọng đến nguồn gốc và chất lượng của sản phẩm mà họ sử dụng. Tại tỉnh Vĩnh Long, mặc dù có nhiều sản phẩm OCOP phong phú và đặc sắc nhưng không có nhiều sản phẩm được biết tới. Chính vì vậy, để góp phần quảng bá các sản phẩm OCOP của địa phương đến đông đảo người tiêu dùng, em quyết định chọn đề tài: </a:t>
            </a:r>
            <a:r>
              <a:rPr lang="vi-VN" dirty="0">
                <a:effectLst/>
              </a:rPr>
              <a:t>“Xây dựng Website giới thiệu các sản phẩm OCOP trong tỉnh Vĩnh Long”</a:t>
            </a:r>
            <a:r>
              <a:rPr lang="vi-VN" dirty="0"/>
              <a: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727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0F3D9-D329-F61A-4DA8-28A4595D616B}"/>
              </a:ext>
            </a:extLst>
          </p:cNvPr>
          <p:cNvSpPr>
            <a:spLocks noGrp="1"/>
          </p:cNvSpPr>
          <p:nvPr>
            <p:ph type="title"/>
          </p:nvPr>
        </p:nvSpPr>
        <p:spPr/>
        <p:txBody>
          <a:bodyPr/>
          <a:lstStyle/>
          <a:p>
            <a:pPr marL="742950" indent="-742950">
              <a:buFont typeface="+mj-lt"/>
              <a:buAutoNum type="arabicPeriod"/>
            </a:pPr>
            <a:r>
              <a:rPr lang="vi-VN" dirty="0">
                <a:latin typeface="+mn-lt"/>
              </a:rPr>
              <a:t>TỔNG QUAN VỀ ĐỀ TÀI</a:t>
            </a:r>
            <a:endParaRPr lang="en-US" dirty="0">
              <a:latin typeface="+mn-lt"/>
            </a:endParaRPr>
          </a:p>
        </p:txBody>
      </p:sp>
      <p:sp>
        <p:nvSpPr>
          <p:cNvPr id="3" name="Content Placeholder 2">
            <a:extLst>
              <a:ext uri="{FF2B5EF4-FFF2-40B4-BE49-F238E27FC236}">
                <a16:creationId xmlns:a16="http://schemas.microsoft.com/office/drawing/2014/main" id="{E532F99B-5BD6-27A2-C2A6-84E38B4FDDA6}"/>
              </a:ext>
            </a:extLst>
          </p:cNvPr>
          <p:cNvSpPr>
            <a:spLocks noGrp="1"/>
          </p:cNvSpPr>
          <p:nvPr>
            <p:ph idx="1"/>
          </p:nvPr>
        </p:nvSpPr>
        <p:spPr/>
        <p:txBody>
          <a:bodyPr/>
          <a:lstStyle/>
          <a:p>
            <a:pPr marL="0" indent="0" algn="just">
              <a:buNone/>
            </a:pPr>
            <a:r>
              <a:rPr lang="vi-VN" dirty="0">
                <a:latin typeface="Arial" panose="020B0604020202020204" pitchFamily="34" charset="0"/>
                <a:cs typeface="Arial" panose="020B0604020202020204" pitchFamily="34" charset="0"/>
              </a:rPr>
              <a:t>Mục tiêu của đề tài:</a:t>
            </a:r>
          </a:p>
          <a:p>
            <a:pPr algn="just"/>
            <a:r>
              <a:rPr lang="vi-VN" dirty="0">
                <a:latin typeface="Arial" panose="020B0604020202020204" pitchFamily="34" charset="0"/>
                <a:cs typeface="Arial" panose="020B0604020202020204" pitchFamily="34" charset="0"/>
              </a:rPr>
              <a:t>Thiết kế được giao diện trang chủ, trang chi tiết thông tin sản phẩm, giỏ hàng, đặt hàng.</a:t>
            </a:r>
          </a:p>
          <a:p>
            <a:pPr algn="just"/>
            <a:r>
              <a:rPr lang="vi-VN" dirty="0">
                <a:latin typeface="Arial" panose="020B0604020202020204" pitchFamily="34" charset="0"/>
                <a:cs typeface="Arial" panose="020B0604020202020204" pitchFamily="34" charset="0"/>
              </a:rPr>
              <a:t>Thiết kế các chức năng tìm kiếm, lọc sản phẩm theo yêu cầu.</a:t>
            </a:r>
          </a:p>
          <a:p>
            <a:pPr algn="just"/>
            <a:r>
              <a:rPr lang="vi-VN" dirty="0">
                <a:latin typeface="Arial" panose="020B0604020202020204" pitchFamily="34" charset="0"/>
                <a:cs typeface="Arial" panose="020B0604020202020204" pitchFamily="34" charset="0"/>
              </a:rPr>
              <a:t>Giao diện khi thiết kế phải thân thiện với người dùng, dễ nhìn, dễ thao tác.</a:t>
            </a:r>
          </a:p>
          <a:p>
            <a:pPr marL="0" indent="0" algn="just">
              <a:buNone/>
            </a:pPr>
            <a:endParaRPr lang="vi-VN" dirty="0">
              <a:latin typeface="Arial" panose="020B0604020202020204" pitchFamily="34" charset="0"/>
              <a:cs typeface="Arial" panose="020B0604020202020204" pitchFamily="34" charset="0"/>
            </a:endParaRPr>
          </a:p>
          <a:p>
            <a:pPr algn="just"/>
            <a:endParaRPr lang="vi-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9470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893E-1862-95FD-F5F7-47567AD16B45}"/>
              </a:ext>
            </a:extLst>
          </p:cNvPr>
          <p:cNvSpPr>
            <a:spLocks noGrp="1"/>
          </p:cNvSpPr>
          <p:nvPr>
            <p:ph type="title"/>
          </p:nvPr>
        </p:nvSpPr>
        <p:spPr/>
        <p:txBody>
          <a:bodyPr/>
          <a:lstStyle/>
          <a:p>
            <a:pPr marL="742950" indent="-742950">
              <a:buFont typeface="+mj-lt"/>
              <a:buAutoNum type="arabicPeriod"/>
            </a:pPr>
            <a:r>
              <a:rPr lang="en-US" dirty="0">
                <a:latin typeface="Arial" panose="020B0604020202020204" pitchFamily="34" charset="0"/>
                <a:cs typeface="Arial" panose="020B0604020202020204" pitchFamily="34" charset="0"/>
              </a:rPr>
              <a:t>TỔNG QUAN VỀ ĐỀ TÀI</a:t>
            </a:r>
          </a:p>
        </p:txBody>
      </p:sp>
      <p:sp>
        <p:nvSpPr>
          <p:cNvPr id="3" name="Content Placeholder 2">
            <a:extLst>
              <a:ext uri="{FF2B5EF4-FFF2-40B4-BE49-F238E27FC236}">
                <a16:creationId xmlns:a16="http://schemas.microsoft.com/office/drawing/2014/main" id="{5BEBC757-F2B6-BA27-CFFF-CAEC4CEF0E5D}"/>
              </a:ext>
            </a:extLst>
          </p:cNvPr>
          <p:cNvSpPr>
            <a:spLocks noGrp="1"/>
          </p:cNvSpPr>
          <p:nvPr>
            <p:ph idx="1"/>
          </p:nvPr>
        </p:nvSpPr>
        <p:spPr/>
        <p:txBody>
          <a:bodyPr/>
          <a:lstStyle/>
          <a:p>
            <a:pPr marL="0" indent="0">
              <a:buNone/>
            </a:pPr>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phạm</a:t>
            </a:r>
            <a:r>
              <a:rPr lang="en-US" dirty="0">
                <a:latin typeface="Arial" panose="020B0604020202020204" pitchFamily="34" charset="0"/>
                <a:cs typeface="Arial" panose="020B0604020202020204" pitchFamily="34" charset="0"/>
              </a:rPr>
              <a:t> vi </a:t>
            </a:r>
            <a:r>
              <a:rPr lang="en-US" dirty="0" err="1">
                <a:latin typeface="Arial" panose="020B0604020202020204" pitchFamily="34" charset="0"/>
                <a:cs typeface="Arial" panose="020B0604020202020204" pitchFamily="34" charset="0"/>
              </a:rPr>
              <a:t>nghiên</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cứu:</a:t>
            </a:r>
          </a:p>
          <a:p>
            <a:r>
              <a:rPr lang="en-US" dirty="0" err="1">
                <a:latin typeface="Arial" panose="020B0604020202020204" pitchFamily="34" charset="0"/>
                <a:cs typeface="Arial" panose="020B0604020202020204" pitchFamily="34" charset="0"/>
              </a:rPr>
              <a:t>Đối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tượng</a:t>
            </a:r>
            <a:r>
              <a:rPr lang="vi-VN" dirty="0">
                <a:latin typeface="Arial" panose="020B0604020202020204" pitchFamily="34" charset="0"/>
                <a:cs typeface="Arial" panose="020B0604020202020204" pitchFamily="34" charset="0"/>
              </a:rPr>
              <a:t> nghiên cứu là </a:t>
            </a:r>
            <a:r>
              <a:rPr lang="vi-VN" dirty="0"/>
              <a:t>Xây dựng Website giới thiệu các sản phẩm OCOP của tỉnh Vĩnh Long, người sử dụng là người dùng.</a:t>
            </a:r>
          </a:p>
          <a:p>
            <a:r>
              <a:rPr lang="vi-VN" dirty="0">
                <a:latin typeface="Arial" panose="020B0604020202020204" pitchFamily="34" charset="0"/>
                <a:cs typeface="Arial" panose="020B0604020202020204" pitchFamily="34" charset="0"/>
              </a:rPr>
              <a:t>Phạm vi nghiên cứu là các chức năng cơ bản của </a:t>
            </a:r>
            <a:r>
              <a:rPr lang="vi-VN" dirty="0"/>
              <a:t>Website giới thiệu các sản phẩm OCOP của tỉnh Vĩnh Long như xem thông tin chi tiết sản phẩm, lọc, tìm kiếm sản phẩm theo yêu cầu, thêm vào giỏ hàng, đặt hàng.</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2758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EB5D7-50C0-9FD9-F193-5864D71394C7}"/>
              </a:ext>
            </a:extLst>
          </p:cNvPr>
          <p:cNvSpPr>
            <a:spLocks noGrp="1"/>
          </p:cNvSpPr>
          <p:nvPr>
            <p:ph type="title"/>
          </p:nvPr>
        </p:nvSpPr>
        <p:spPr/>
        <p:txBody>
          <a:bodyPr/>
          <a:lstStyle/>
          <a:p>
            <a:pPr marL="742950" indent="-742950">
              <a:buFont typeface="+mj-lt"/>
              <a:buAutoNum type="arabicPeriod" startAt="2"/>
            </a:pPr>
            <a:r>
              <a:rPr lang="vi-VN" dirty="0">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THUYẾT</a:t>
            </a:r>
            <a:endParaRPr lang="en-US" dirty="0"/>
          </a:p>
        </p:txBody>
      </p:sp>
      <p:sp>
        <p:nvSpPr>
          <p:cNvPr id="3" name="Content Placeholder 2">
            <a:extLst>
              <a:ext uri="{FF2B5EF4-FFF2-40B4-BE49-F238E27FC236}">
                <a16:creationId xmlns:a16="http://schemas.microsoft.com/office/drawing/2014/main" id="{C4FDDEAB-E0B8-9981-8A02-9E9EC59B667E}"/>
              </a:ext>
            </a:extLst>
          </p:cNvPr>
          <p:cNvSpPr>
            <a:spLocks noGrp="1"/>
          </p:cNvSpPr>
          <p:nvPr>
            <p:ph idx="1"/>
          </p:nvPr>
        </p:nvSpPr>
        <p:spPr/>
        <p:txBody>
          <a:bodyPr>
            <a:normAutofit/>
          </a:bodyPr>
          <a:lstStyle/>
          <a:p>
            <a:pPr marL="0" indent="0">
              <a:buNone/>
            </a:pPr>
            <a:r>
              <a:rPr lang="vi-VN" dirty="0"/>
              <a:t>Những ngôn ngữ lập trình và công cụ đã sử dụng:</a:t>
            </a:r>
          </a:p>
          <a:p>
            <a:pPr>
              <a:buFont typeface="Symbol" panose="05050102010706020507" pitchFamily="18" charset="2"/>
              <a:buChar char=""/>
            </a:pPr>
            <a:r>
              <a:rPr lang="vi-VN" sz="3000" dirty="0">
                <a:latin typeface="Arial" panose="020B0604020202020204" pitchFamily="34" charset="0"/>
                <a:cs typeface="Arial" panose="020B0604020202020204" pitchFamily="34" charset="0"/>
              </a:rPr>
              <a:t>HTML: Được sử dụng để thiết kế giao diện và định dạng bố cục của website, các thành phần như tiêu đề, hình ảnh, bảng sản phẩm OCOP được sắp xếp rõ ràng, giúp người dùng dễ dàng tiếp cận thông tin.</a:t>
            </a:r>
          </a:p>
          <a:p>
            <a:pPr>
              <a:buFont typeface="Symbol" panose="05050102010706020507" pitchFamily="18" charset="2"/>
              <a:buChar char=""/>
            </a:pPr>
            <a:r>
              <a:rPr lang="vi-VN" sz="3000" dirty="0">
                <a:latin typeface="Arial" panose="020B0604020202020204" pitchFamily="34" charset="0"/>
                <a:cs typeface="Arial" panose="020B0604020202020204" pitchFamily="34" charset="0"/>
              </a:rPr>
              <a:t>CSS: Được sử dụng để điều chỉnh kích thước ảnh, định dạng layout,</a:t>
            </a:r>
            <a:r>
              <a:rPr lang="en-US" sz="3000" dirty="0">
                <a:latin typeface="Arial" panose="020B0604020202020204" pitchFamily="34" charset="0"/>
                <a:cs typeface="Arial" panose="020B0604020202020204" pitchFamily="34" charset="0"/>
              </a:rPr>
              <a:t> CSS </a:t>
            </a:r>
            <a:r>
              <a:rPr lang="en-US" sz="3000" dirty="0" err="1">
                <a:latin typeface="Arial" panose="020B0604020202020204" pitchFamily="34" charset="0"/>
                <a:cs typeface="Arial" panose="020B0604020202020204" pitchFamily="34" charset="0"/>
              </a:rPr>
              <a:t>còn</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hỗ</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trợ</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thiết</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kế</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giao</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diện</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thân</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thiện</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với</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nhiều</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thiết</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bị</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tạo</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sự</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chuyên</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nghiệp</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và</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hấp</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dẫn</a:t>
            </a:r>
            <a:r>
              <a:rPr lang="en-US" sz="3000" dirty="0">
                <a:latin typeface="Arial" panose="020B0604020202020204" pitchFamily="34" charset="0"/>
                <a:cs typeface="Arial" panose="020B0604020202020204" pitchFamily="34" charset="0"/>
              </a:rPr>
              <a:t> </a:t>
            </a:r>
            <a:r>
              <a:rPr lang="en-US" sz="3000" dirty="0" err="1">
                <a:latin typeface="Arial" panose="020B0604020202020204" pitchFamily="34" charset="0"/>
                <a:cs typeface="Arial" panose="020B0604020202020204" pitchFamily="34" charset="0"/>
              </a:rPr>
              <a:t>cho</a:t>
            </a:r>
            <a:r>
              <a:rPr lang="en-US" sz="3000" dirty="0">
                <a:latin typeface="Arial" panose="020B0604020202020204" pitchFamily="34" charset="0"/>
                <a:cs typeface="Arial" panose="020B0604020202020204" pitchFamily="34" charset="0"/>
              </a:rPr>
              <a:t> website</a:t>
            </a:r>
            <a:r>
              <a:rPr lang="vi-VN" sz="3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040651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BEC3-AE92-C263-6529-10421EC9E8E8}"/>
              </a:ext>
            </a:extLst>
          </p:cNvPr>
          <p:cNvSpPr>
            <a:spLocks noGrp="1"/>
          </p:cNvSpPr>
          <p:nvPr>
            <p:ph type="title"/>
          </p:nvPr>
        </p:nvSpPr>
        <p:spPr/>
        <p:txBody>
          <a:bodyPr/>
          <a:lstStyle/>
          <a:p>
            <a:pPr marL="742950" indent="-742950">
              <a:buFont typeface="+mj-lt"/>
              <a:buAutoNum type="arabicPeriod" startAt="2"/>
            </a:pPr>
            <a:r>
              <a:rPr lang="vi-VN" dirty="0">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THUYẾT</a:t>
            </a:r>
            <a:endParaRPr lang="en-US" dirty="0"/>
          </a:p>
        </p:txBody>
      </p:sp>
      <p:sp>
        <p:nvSpPr>
          <p:cNvPr id="3" name="Content Placeholder 2">
            <a:extLst>
              <a:ext uri="{FF2B5EF4-FFF2-40B4-BE49-F238E27FC236}">
                <a16:creationId xmlns:a16="http://schemas.microsoft.com/office/drawing/2014/main" id="{57D3F1F6-AEC4-6640-94B9-78404BDBD875}"/>
              </a:ext>
            </a:extLst>
          </p:cNvPr>
          <p:cNvSpPr>
            <a:spLocks noGrp="1"/>
          </p:cNvSpPr>
          <p:nvPr>
            <p:ph idx="1"/>
          </p:nvPr>
        </p:nvSpPr>
        <p:spPr/>
        <p:txBody>
          <a:bodyPr/>
          <a:lstStyle/>
          <a:p>
            <a:pPr marL="0" indent="0">
              <a:buNone/>
            </a:pPr>
            <a:r>
              <a:rPr lang="vi-VN" dirty="0"/>
              <a:t>Những ngôn ngữ lập trình và công cụ đã sử dụng:</a:t>
            </a:r>
          </a:p>
          <a:p>
            <a:pPr>
              <a:buFont typeface="Symbol" panose="05050102010706020507" pitchFamily="18" charset="2"/>
              <a:buChar char="-"/>
            </a:pPr>
            <a:r>
              <a:rPr lang="vi-VN" dirty="0"/>
              <a:t>Bootstrap 5:Được dùng để giúp việc thiết kế website nhanh hơn và giúp website tương thích với nhiều thiết bị.</a:t>
            </a:r>
          </a:p>
          <a:p>
            <a:pPr>
              <a:buFont typeface="Symbol" panose="05050102010706020507" pitchFamily="18" charset="2"/>
              <a:buChar char=""/>
            </a:pPr>
            <a:r>
              <a:rPr lang="vi-VN" dirty="0"/>
              <a:t>PHP: Được sử dụng để kết nối với cơ sở dữ liệu và thực hiện các chức năng tìm kiếm, lọc,...</a:t>
            </a:r>
          </a:p>
          <a:p>
            <a:pPr>
              <a:buFont typeface="Symbol" panose="05050102010706020507" pitchFamily="18" charset="2"/>
              <a:buChar char=""/>
            </a:pPr>
            <a:r>
              <a:rPr lang="vi-VN" dirty="0"/>
              <a:t>MySQL: Được dùng để tạo cơ sở dữ liệu lưu các thông tin như tài khoản của khách hàng, thông tin các sản phẩm, đơn đặt hàng.</a:t>
            </a:r>
          </a:p>
        </p:txBody>
      </p:sp>
    </p:spTree>
    <p:extLst>
      <p:ext uri="{BB962C8B-B14F-4D97-AF65-F5344CB8AC3E}">
        <p14:creationId xmlns:p14="http://schemas.microsoft.com/office/powerpoint/2010/main" val="3726741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7E30-C9DB-5198-43BC-C82BC5F79B5E}"/>
              </a:ext>
            </a:extLst>
          </p:cNvPr>
          <p:cNvSpPr>
            <a:spLocks noGrp="1"/>
          </p:cNvSpPr>
          <p:nvPr>
            <p:ph type="title"/>
          </p:nvPr>
        </p:nvSpPr>
        <p:spPr/>
        <p:txBody>
          <a:bodyPr/>
          <a:lstStyle/>
          <a:p>
            <a:pPr marL="742950" indent="-742950">
              <a:buFont typeface="+mj-lt"/>
              <a:buAutoNum type="arabicPeriod" startAt="2"/>
            </a:pPr>
            <a:r>
              <a:rPr lang="vi-VN" dirty="0">
                <a:latin typeface="Arial" panose="020B0604020202020204" pitchFamily="34" charset="0"/>
                <a:cs typeface="Arial" panose="020B0604020202020204" pitchFamily="34" charset="0"/>
              </a:rPr>
              <a:t>CƠ</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SỞ</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THUYẾT</a:t>
            </a:r>
            <a:endParaRPr lang="en-US" dirty="0"/>
          </a:p>
        </p:txBody>
      </p:sp>
      <p:sp>
        <p:nvSpPr>
          <p:cNvPr id="3" name="Content Placeholder 2">
            <a:extLst>
              <a:ext uri="{FF2B5EF4-FFF2-40B4-BE49-F238E27FC236}">
                <a16:creationId xmlns:a16="http://schemas.microsoft.com/office/drawing/2014/main" id="{A24D67BF-2793-6ECF-D964-D44CA5881306}"/>
              </a:ext>
            </a:extLst>
          </p:cNvPr>
          <p:cNvSpPr>
            <a:spLocks noGrp="1"/>
          </p:cNvSpPr>
          <p:nvPr>
            <p:ph idx="1"/>
          </p:nvPr>
        </p:nvSpPr>
        <p:spPr>
          <a:xfrm>
            <a:off x="838200" y="1329267"/>
            <a:ext cx="10515600" cy="4847696"/>
          </a:xfrm>
        </p:spPr>
        <p:txBody>
          <a:bodyPr>
            <a:normAutofit lnSpcReduction="10000"/>
          </a:bodyPr>
          <a:lstStyle/>
          <a:p>
            <a:pPr marL="0" indent="0">
              <a:buNone/>
            </a:pPr>
            <a:r>
              <a:rPr lang="vi-VN" dirty="0">
                <a:cs typeface="Arial" panose="020B0604020202020204" pitchFamily="34" charset="0"/>
              </a:rPr>
              <a:t>Những ngôn ngữ lập trình và công cụ đã sử dụng:</a:t>
            </a:r>
          </a:p>
          <a:p>
            <a:pPr>
              <a:buFont typeface="Symbol" panose="05050102010706020507" pitchFamily="18" charset="2"/>
              <a:buChar char="-"/>
            </a:pPr>
            <a:r>
              <a:rPr lang="vi-VN" dirty="0">
                <a:cs typeface="Arial" panose="020B0604020202020204" pitchFamily="34" charset="0"/>
              </a:rPr>
              <a:t>XAMPP: Được sử dụng để tạo một server cục bộ trên máy tính cá nhân, giúp chạy thử website trong quá trình xây dựng.</a:t>
            </a:r>
          </a:p>
          <a:p>
            <a:pPr>
              <a:buFont typeface="Symbol" panose="05050102010706020507" pitchFamily="18" charset="2"/>
              <a:buChar char="-"/>
            </a:pPr>
            <a:r>
              <a:rPr lang="vi-VN" dirty="0"/>
              <a:t>phpMyAdmin: Được sử dụng để giúp việc tạo cơ sở dữ liệu nhanh chóng và đơn giản hơn, ngoài ra còn được sử dụng để quản lý cơ sở dữ liệu MySQL.</a:t>
            </a:r>
          </a:p>
          <a:p>
            <a:pPr>
              <a:buFont typeface="Symbol" panose="05050102010706020507" pitchFamily="18" charset="2"/>
              <a:buChar char="-"/>
            </a:pPr>
            <a:r>
              <a:rPr lang="vi-VN" dirty="0">
                <a:effectLst/>
              </a:rPr>
              <a:t>Visual Studio Code</a:t>
            </a:r>
            <a:r>
              <a:rPr lang="vi-VN" dirty="0"/>
              <a:t>: Được sử dụng để viết mã nguồn, hỗ trợ nhiều ngôn ngữ lập trình, giúp việc viết và quản lý code thuận tiện hơn.</a:t>
            </a:r>
          </a:p>
          <a:p>
            <a:pPr marL="0" indent="0">
              <a:buNone/>
            </a:pPr>
            <a:r>
              <a:rPr lang="vi-VN" dirty="0">
                <a:cs typeface="Arial" panose="020B0604020202020204" pitchFamily="34" charset="0"/>
                <a:sym typeface="Wingdings" panose="05000000000000000000" pitchFamily="2" charset="2"/>
              </a:rPr>
              <a:t>Các ngôn ngữ lập trình kết hợp với các công cụ đã tạo nên website với đầy đủ chức năng, có giao diện thân thiện với </a:t>
            </a:r>
            <a:r>
              <a:rPr lang="vi-VN">
                <a:cs typeface="Arial" panose="020B0604020202020204" pitchFamily="34" charset="0"/>
                <a:sym typeface="Wingdings" panose="05000000000000000000" pitchFamily="2" charset="2"/>
              </a:rPr>
              <a:t>người dùng và đảm bảo dữ liệu được quản lý tốt.</a:t>
            </a:r>
            <a:endParaRPr lang="en-US" dirty="0">
              <a:cs typeface="Arial" panose="020B0604020202020204" pitchFamily="34" charset="0"/>
            </a:endParaRPr>
          </a:p>
        </p:txBody>
      </p:sp>
    </p:spTree>
    <p:extLst>
      <p:ext uri="{BB962C8B-B14F-4D97-AF65-F5344CB8AC3E}">
        <p14:creationId xmlns:p14="http://schemas.microsoft.com/office/powerpoint/2010/main" val="2722689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BE1D-6199-F0D9-6735-827968BB8E5F}"/>
              </a:ext>
            </a:extLst>
          </p:cNvPr>
          <p:cNvSpPr>
            <a:spLocks noGrp="1"/>
          </p:cNvSpPr>
          <p:nvPr>
            <p:ph type="title"/>
          </p:nvPr>
        </p:nvSpPr>
        <p:spPr/>
        <p:txBody>
          <a:bodyPr/>
          <a:lstStyle/>
          <a:p>
            <a:pPr marL="742950" indent="-742950">
              <a:buFont typeface="+mj-lt"/>
              <a:buAutoNum type="arabicPeriod" startAt="3"/>
            </a:pPr>
            <a:r>
              <a:rPr lang="vi-VN" dirty="0">
                <a:latin typeface="Arial" panose="020B0604020202020204" pitchFamily="34" charset="0"/>
                <a:cs typeface="Arial" panose="020B0604020202020204" pitchFamily="34" charset="0"/>
              </a:rPr>
              <a:t>HIỆN THỰC HÓA NGHIÊN CỨU</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5DE4BD1-81A0-A0FF-FBC7-0E9631E792F1}"/>
              </a:ext>
            </a:extLst>
          </p:cNvPr>
          <p:cNvSpPr>
            <a:spLocks noGrp="1"/>
          </p:cNvSpPr>
          <p:nvPr>
            <p:ph idx="1"/>
          </p:nvPr>
        </p:nvSpPr>
        <p:spPr/>
        <p:txBody>
          <a:bodyPr/>
          <a:lstStyle/>
          <a:p>
            <a:pPr marL="0" indent="0" algn="just">
              <a:buNone/>
            </a:pPr>
            <a:r>
              <a:rPr lang="en-US" dirty="0" err="1">
                <a:latin typeface="Arial" panose="020B0604020202020204" pitchFamily="34" charset="0"/>
                <a:cs typeface="Arial" panose="020B0604020202020204" pitchFamily="34" charset="0"/>
              </a:rPr>
              <a:t>Đặc</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ả</a:t>
            </a:r>
            <a:r>
              <a:rPr lang="vi-VN" dirty="0">
                <a:latin typeface="Arial" panose="020B0604020202020204" pitchFamily="34" charset="0"/>
                <a:cs typeface="Arial" panose="020B0604020202020204" pitchFamily="34" charset="0"/>
              </a:rPr>
              <a:t> về y</a:t>
            </a:r>
            <a:r>
              <a:rPr lang="en-US" dirty="0" err="1">
                <a:latin typeface="Arial" panose="020B0604020202020204" pitchFamily="34" charset="0"/>
                <a:cs typeface="Arial" panose="020B0604020202020204" pitchFamily="34" charset="0"/>
              </a:rPr>
              <a:t>êu</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c</a:t>
            </a:r>
            <a:r>
              <a:rPr lang="en-US" dirty="0" err="1">
                <a:latin typeface="Arial" panose="020B0604020202020204" pitchFamily="34" charset="0"/>
                <a:cs typeface="Arial" panose="020B0604020202020204" pitchFamily="34" charset="0"/>
              </a:rPr>
              <a:t>ầu</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ề </a:t>
            </a:r>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Năng:</a:t>
            </a:r>
          </a:p>
          <a:p>
            <a:pPr algn="just">
              <a:buFont typeface="Symbol" panose="05050102010706020507" pitchFamily="18" charset="2"/>
              <a:buChar char="-"/>
            </a:pPr>
            <a:r>
              <a:rPr lang="vi-VN" dirty="0"/>
              <a:t>Website có trang chủ hiển thị các sản phẩm OCOP với thông tin cơ bản như giá, tên sản phẩm và nút xem chi tiết. </a:t>
            </a:r>
          </a:p>
          <a:p>
            <a:pPr algn="just">
              <a:buFont typeface="Symbol" panose="05050102010706020507" pitchFamily="18" charset="2"/>
              <a:buChar char="-"/>
            </a:pPr>
            <a:r>
              <a:rPr lang="vi-VN" dirty="0"/>
              <a:t>Khi người dùng thêm sản phẩm vào giỏ hàng, các sản phẩm sẽ hiển thị dưới dạng danh sách và có tùy chọn đặt hàng. </a:t>
            </a:r>
          </a:p>
          <a:p>
            <a:pPr algn="just">
              <a:buFont typeface="Symbol" panose="05050102010706020507" pitchFamily="18" charset="2"/>
              <a:buChar char="-"/>
            </a:pPr>
            <a:r>
              <a:rPr lang="vi-VN" dirty="0"/>
              <a:t>Website có chức năng lọc sản phẩm theo yêu cầu của người dùng, đồng thời có chức năng tìm kiếm sản phẩm theo tên.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0961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578C-B682-EC9D-3257-92002D05C1C6}"/>
              </a:ext>
            </a:extLst>
          </p:cNvPr>
          <p:cNvSpPr>
            <a:spLocks noGrp="1"/>
          </p:cNvSpPr>
          <p:nvPr>
            <p:ph type="title"/>
          </p:nvPr>
        </p:nvSpPr>
        <p:spPr/>
        <p:txBody>
          <a:bodyPr/>
          <a:lstStyle/>
          <a:p>
            <a:pPr marL="742950" indent="-742950">
              <a:buFont typeface="+mj-lt"/>
              <a:buAutoNum type="arabicPeriod" startAt="3"/>
            </a:pPr>
            <a:r>
              <a:rPr lang="vi-VN" dirty="0">
                <a:latin typeface="Arial" panose="020B0604020202020204" pitchFamily="34" charset="0"/>
                <a:cs typeface="Arial" panose="020B0604020202020204" pitchFamily="34" charset="0"/>
              </a:rPr>
              <a:t>HIỆN THỰC HÓA NGHIÊN CỨU</a:t>
            </a:r>
            <a:endParaRPr lang="en-US" dirty="0"/>
          </a:p>
        </p:txBody>
      </p:sp>
      <p:sp>
        <p:nvSpPr>
          <p:cNvPr id="3" name="Content Placeholder 2">
            <a:extLst>
              <a:ext uri="{FF2B5EF4-FFF2-40B4-BE49-F238E27FC236}">
                <a16:creationId xmlns:a16="http://schemas.microsoft.com/office/drawing/2014/main" id="{18F31F88-1DD0-585E-2ED8-23C2A92530D9}"/>
              </a:ext>
            </a:extLst>
          </p:cNvPr>
          <p:cNvSpPr>
            <a:spLocks noGrp="1"/>
          </p:cNvSpPr>
          <p:nvPr>
            <p:ph idx="1"/>
          </p:nvPr>
        </p:nvSpPr>
        <p:spPr/>
        <p:txBody>
          <a:bodyPr>
            <a:normAutofit/>
          </a:bodyPr>
          <a:lstStyle/>
          <a:p>
            <a:pPr marL="0" indent="0">
              <a:buNone/>
            </a:pPr>
            <a:r>
              <a:rPr lang="vi-VN" dirty="0"/>
              <a:t>Đặt tả về y</a:t>
            </a:r>
            <a:r>
              <a:rPr lang="en-US" dirty="0" err="1"/>
              <a:t>êu</a:t>
            </a:r>
            <a:r>
              <a:rPr lang="en-US" dirty="0"/>
              <a:t> </a:t>
            </a:r>
            <a:r>
              <a:rPr lang="en-US" dirty="0" err="1"/>
              <a:t>cầu</a:t>
            </a:r>
            <a:r>
              <a:rPr lang="en-US" dirty="0"/>
              <a:t> phi </a:t>
            </a:r>
            <a:r>
              <a:rPr lang="en-US" dirty="0" err="1"/>
              <a:t>chức</a:t>
            </a:r>
            <a:r>
              <a:rPr lang="en-US" dirty="0"/>
              <a:t> </a:t>
            </a:r>
            <a:r>
              <a:rPr lang="en-US" dirty="0" err="1"/>
              <a:t>năng</a:t>
            </a:r>
            <a:r>
              <a:rPr lang="en-US" dirty="0"/>
              <a:t>:</a:t>
            </a:r>
            <a:endParaRPr lang="en-US" i="1" dirty="0"/>
          </a:p>
          <a:p>
            <a:r>
              <a:rPr lang="vi-VN" dirty="0"/>
              <a:t>Thiết kế giao diện thân thiện với người dùng: Trang chủ có giao diện dễ nhìn, dễ sử dụng, các chức năng trên thanh navigation nổi bật để người dùng dễ dàng điều hướng đến các trang khác.</a:t>
            </a:r>
          </a:p>
          <a:p>
            <a:r>
              <a:rPr lang="vi-VN" dirty="0"/>
              <a:t>Tính tương thích đa thiết bị: Website cần đảm bảo hiển thị đầy đủ chức năng trên nhiều thiết bị khác nhau, giao diện phải thống nhất về kiểu chữ, màu sắc và bố cục, tạo sự chuyên nghiệp và nhất quán khi sử dụng.</a:t>
            </a:r>
          </a:p>
          <a:p>
            <a:pPr>
              <a:buFont typeface="Symbol" panose="05050102010706020507" pitchFamily="18" charset="2"/>
              <a:buChar char="-"/>
            </a:pPr>
            <a:endParaRPr lang="en-US" dirty="0"/>
          </a:p>
        </p:txBody>
      </p:sp>
      <p:sp>
        <p:nvSpPr>
          <p:cNvPr id="4" name="Title 1">
            <a:extLst>
              <a:ext uri="{FF2B5EF4-FFF2-40B4-BE49-F238E27FC236}">
                <a16:creationId xmlns:a16="http://schemas.microsoft.com/office/drawing/2014/main" id="{4DBF3A6F-6254-F4A2-9357-BA885937CEE4}"/>
              </a:ext>
            </a:extLst>
          </p:cNvPr>
          <p:cNvSpPr txBox="1">
            <a:spLocks/>
          </p:cNvSpPr>
          <p:nvPr/>
        </p:nvSpPr>
        <p:spPr>
          <a:xfrm>
            <a:off x="838200" y="3651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Tree>
    <p:extLst>
      <p:ext uri="{BB962C8B-B14F-4D97-AF65-F5344CB8AC3E}">
        <p14:creationId xmlns:p14="http://schemas.microsoft.com/office/powerpoint/2010/main" val="1908872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D85C-7396-DB20-E42B-8A3BCFB6C86E}"/>
              </a:ext>
            </a:extLst>
          </p:cNvPr>
          <p:cNvSpPr>
            <a:spLocks noGrp="1"/>
          </p:cNvSpPr>
          <p:nvPr>
            <p:ph type="title"/>
          </p:nvPr>
        </p:nvSpPr>
        <p:spPr/>
        <p:txBody>
          <a:bodyPr/>
          <a:lstStyle/>
          <a:p>
            <a:pPr marL="742950" indent="-742950">
              <a:buFont typeface="+mj-lt"/>
              <a:buAutoNum type="arabicPeriod" startAt="3"/>
            </a:pPr>
            <a:r>
              <a:rPr lang="vi-VN" dirty="0">
                <a:latin typeface="Arial" panose="020B0604020202020204" pitchFamily="34" charset="0"/>
                <a:cs typeface="Arial" panose="020B0604020202020204" pitchFamily="34" charset="0"/>
              </a:rPr>
              <a:t>HIỆN THỰC HÓA NGHIÊN CỨU</a:t>
            </a:r>
            <a:endParaRPr lang="en-US" dirty="0"/>
          </a:p>
        </p:txBody>
      </p:sp>
      <p:sp>
        <p:nvSpPr>
          <p:cNvPr id="3" name="Content Placeholder 2">
            <a:extLst>
              <a:ext uri="{FF2B5EF4-FFF2-40B4-BE49-F238E27FC236}">
                <a16:creationId xmlns:a16="http://schemas.microsoft.com/office/drawing/2014/main" id="{8C17A5B0-2B80-53EE-E10D-A66B12EC59D4}"/>
              </a:ext>
            </a:extLst>
          </p:cNvPr>
          <p:cNvSpPr>
            <a:spLocks noGrp="1"/>
          </p:cNvSpPr>
          <p:nvPr>
            <p:ph idx="1"/>
          </p:nvPr>
        </p:nvSpPr>
        <p:spPr/>
        <p:txBody>
          <a:bodyPr/>
          <a:lstStyle/>
          <a:p>
            <a:pPr marL="0" indent="0">
              <a:buNone/>
            </a:pPr>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a:t>
            </a:r>
            <a:r>
              <a:rPr lang="en-US" dirty="0">
                <a:latin typeface="Arial" panose="020B0604020202020204" pitchFamily="34" charset="0"/>
                <a:cs typeface="Arial" panose="020B0604020202020204" pitchFamily="34" charset="0"/>
              </a:rPr>
              <a:t> Giao </a:t>
            </a:r>
            <a:r>
              <a:rPr lang="vi-VN" dirty="0">
                <a:latin typeface="Arial" panose="020B0604020202020204" pitchFamily="34" charset="0"/>
                <a:cs typeface="Arial" panose="020B0604020202020204" pitchFamily="34" charset="0"/>
              </a:rPr>
              <a:t>Diện:</a:t>
            </a:r>
          </a:p>
          <a:p>
            <a:r>
              <a:rPr lang="vi-VN" dirty="0">
                <a:latin typeface="Arial" panose="020B0604020202020204" pitchFamily="34" charset="0"/>
                <a:cs typeface="Arial" panose="020B0604020202020204" pitchFamily="34" charset="0"/>
              </a:rPr>
              <a:t>Thiết kế g</a:t>
            </a:r>
            <a:r>
              <a:rPr lang="en-US" dirty="0" err="1">
                <a:latin typeface="Arial" panose="020B0604020202020204" pitchFamily="34" charset="0"/>
                <a:cs typeface="Arial" panose="020B0604020202020204" pitchFamily="34" charset="0"/>
              </a:rPr>
              <a:t>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trang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chủ</a:t>
            </a:r>
            <a:endParaRPr lang="en-US" dirty="0">
              <a:latin typeface="Arial" panose="020B0604020202020204" pitchFamily="34" charset="0"/>
              <a:cs typeface="Arial" panose="020B0604020202020204" pitchFamily="34" charset="0"/>
            </a:endParaRPr>
          </a:p>
          <a:p>
            <a:r>
              <a:rPr lang="vi-VN" dirty="0">
                <a:cs typeface="Arial" panose="020B0604020202020204" pitchFamily="34" charset="0"/>
              </a:rPr>
              <a:t>Thiết kế </a:t>
            </a:r>
            <a:r>
              <a:rPr lang="vi-VN" dirty="0">
                <a:latin typeface="Arial" panose="020B0604020202020204" pitchFamily="34" charset="0"/>
                <a:cs typeface="Arial" panose="020B0604020202020204" pitchFamily="34" charset="0"/>
              </a:rPr>
              <a:t>g</a:t>
            </a:r>
            <a:r>
              <a:rPr lang="en-US" dirty="0" err="1">
                <a:latin typeface="Arial" panose="020B0604020202020204" pitchFamily="34" charset="0"/>
                <a:cs typeface="Arial" panose="020B0604020202020204" pitchFamily="34" charset="0"/>
              </a:rPr>
              <a:t>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nhập</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đăng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ký</a:t>
            </a:r>
            <a:endParaRPr lang="en-US" dirty="0">
              <a:latin typeface="Arial" panose="020B0604020202020204" pitchFamily="34" charset="0"/>
              <a:cs typeface="Arial" panose="020B0604020202020204" pitchFamily="34" charset="0"/>
            </a:endParaRPr>
          </a:p>
          <a:p>
            <a:r>
              <a:rPr lang="vi-VN" dirty="0">
                <a:cs typeface="Arial" panose="020B0604020202020204" pitchFamily="34" charset="0"/>
              </a:rPr>
              <a:t>Thiết kế </a:t>
            </a:r>
            <a:r>
              <a:rPr lang="vi-VN" dirty="0">
                <a:latin typeface="Arial" panose="020B0604020202020204" pitchFamily="34" charset="0"/>
                <a:cs typeface="Arial" panose="020B0604020202020204" pitchFamily="34" charset="0"/>
              </a:rPr>
              <a:t>g</a:t>
            </a:r>
            <a:r>
              <a:rPr lang="en-US" dirty="0" err="1">
                <a:latin typeface="Arial" panose="020B0604020202020204" pitchFamily="34" charset="0"/>
                <a:cs typeface="Arial" panose="020B0604020202020204" pitchFamily="34" charset="0"/>
              </a:rPr>
              <a:t>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tiết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phẩm</a:t>
            </a:r>
            <a:endParaRPr lang="en-US" dirty="0">
              <a:latin typeface="Arial" panose="020B0604020202020204" pitchFamily="34" charset="0"/>
              <a:cs typeface="Arial" panose="020B0604020202020204" pitchFamily="34" charset="0"/>
            </a:endParaRPr>
          </a:p>
          <a:p>
            <a:r>
              <a:rPr lang="vi-VN" dirty="0">
                <a:cs typeface="Arial" panose="020B0604020202020204" pitchFamily="34" charset="0"/>
              </a:rPr>
              <a:t>Thiết kế </a:t>
            </a:r>
            <a:r>
              <a:rPr lang="vi-VN" dirty="0">
                <a:latin typeface="Arial" panose="020B0604020202020204" pitchFamily="34" charset="0"/>
                <a:cs typeface="Arial" panose="020B0604020202020204" pitchFamily="34" charset="0"/>
              </a:rPr>
              <a:t>g</a:t>
            </a:r>
            <a:r>
              <a:rPr lang="en-US" dirty="0" err="1">
                <a:latin typeface="Arial" panose="020B0604020202020204" pitchFamily="34" charset="0"/>
                <a:cs typeface="Arial" panose="020B0604020202020204" pitchFamily="34" charset="0"/>
              </a:rPr>
              <a:t>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giỏ</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endParaRPr lang="en-US" dirty="0">
              <a:latin typeface="Arial" panose="020B0604020202020204" pitchFamily="34" charset="0"/>
              <a:cs typeface="Arial" panose="020B0604020202020204" pitchFamily="34" charset="0"/>
            </a:endParaRPr>
          </a:p>
          <a:p>
            <a:r>
              <a:rPr lang="vi-VN" dirty="0">
                <a:cs typeface="Arial" panose="020B0604020202020204" pitchFamily="34" charset="0"/>
              </a:rPr>
              <a:t>Thiết kế </a:t>
            </a:r>
            <a:r>
              <a:rPr lang="vi-VN" dirty="0">
                <a:latin typeface="Arial" panose="020B0604020202020204" pitchFamily="34" charset="0"/>
                <a:cs typeface="Arial" panose="020B0604020202020204" pitchFamily="34" charset="0"/>
              </a:rPr>
              <a:t>g</a:t>
            </a:r>
            <a:r>
              <a:rPr lang="en-US" dirty="0" err="1">
                <a:latin typeface="Arial" panose="020B0604020202020204" pitchFamily="34" charset="0"/>
                <a:cs typeface="Arial" panose="020B0604020202020204" pitchFamily="34" charset="0"/>
              </a:rPr>
              <a:t>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đặt hàng</a:t>
            </a:r>
          </a:p>
          <a:p>
            <a:r>
              <a:rPr lang="vi-VN" dirty="0">
                <a:cs typeface="Arial" panose="020B0604020202020204" pitchFamily="34" charset="0"/>
              </a:rPr>
              <a:t>Thiết kế </a:t>
            </a:r>
            <a:r>
              <a:rPr lang="vi-VN" dirty="0">
                <a:latin typeface="Arial" panose="020B0604020202020204" pitchFamily="34" charset="0"/>
                <a:cs typeface="Arial" panose="020B0604020202020204" pitchFamily="34" charset="0"/>
              </a:rPr>
              <a:t>g</a:t>
            </a:r>
            <a:r>
              <a:rPr lang="en-US" dirty="0" err="1">
                <a:latin typeface="Arial" panose="020B0604020202020204" pitchFamily="34" charset="0"/>
                <a:cs typeface="Arial" panose="020B0604020202020204" pitchFamily="34" charset="0"/>
              </a:rPr>
              <a:t>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trị</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6811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D2C8-CA2A-4727-3019-9DF64CA4FB3D}"/>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p>
        </p:txBody>
      </p:sp>
      <p:sp>
        <p:nvSpPr>
          <p:cNvPr id="3" name="Content Placeholder 2">
            <a:extLst>
              <a:ext uri="{FF2B5EF4-FFF2-40B4-BE49-F238E27FC236}">
                <a16:creationId xmlns:a16="http://schemas.microsoft.com/office/drawing/2014/main" id="{33A7E819-D65A-1A33-1008-1FBDB7106699}"/>
              </a:ext>
            </a:extLst>
          </p:cNvPr>
          <p:cNvSpPr>
            <a:spLocks noGrp="1"/>
          </p:cNvSpPr>
          <p:nvPr>
            <p:ph idx="1"/>
          </p:nvPr>
        </p:nvSpPr>
        <p:spPr>
          <a:xfrm>
            <a:off x="838200" y="1470025"/>
            <a:ext cx="5503333" cy="4351338"/>
          </a:xfrm>
        </p:spPr>
        <p:txBody>
          <a:bodyPr>
            <a:normAutofit fontScale="92500" lnSpcReduction="10000"/>
          </a:bodyPr>
          <a:lstStyle/>
          <a:p>
            <a:pPr marL="0" indent="0">
              <a:buNone/>
            </a:pPr>
            <a:r>
              <a:rPr lang="vi-VN">
                <a:cs typeface="Arial" panose="020B0604020202020204" pitchFamily="34" charset="0"/>
              </a:rPr>
              <a:t>Giao diện trang chủ:</a:t>
            </a:r>
          </a:p>
          <a:p>
            <a:pPr marL="0" indent="0">
              <a:buNone/>
            </a:pPr>
            <a:r>
              <a:rPr lang="en-US">
                <a:cs typeface="Arial" panose="020B0604020202020204" pitchFamily="34" charset="0"/>
              </a:rPr>
              <a:t>Giao diện trang chủ có </a:t>
            </a:r>
            <a:r>
              <a:rPr lang="vi-VN">
                <a:cs typeface="Arial" panose="020B0604020202020204" pitchFamily="34" charset="0"/>
              </a:rPr>
              <a:t>4 phần</a:t>
            </a:r>
            <a:r>
              <a:rPr lang="en-US">
                <a:cs typeface="Arial" panose="020B0604020202020204" pitchFamily="34" charset="0"/>
              </a:rPr>
              <a:t>:</a:t>
            </a:r>
          </a:p>
          <a:p>
            <a:r>
              <a:rPr lang="en-US">
                <a:cs typeface="Arial" panose="020B0604020202020204" pitchFamily="34" charset="0"/>
              </a:rPr>
              <a:t>Phần header ở phía trên chứa logo và </a:t>
            </a:r>
            <a:r>
              <a:rPr lang="vi-VN">
                <a:cs typeface="Arial" panose="020B0604020202020204" pitchFamily="34" charset="0"/>
              </a:rPr>
              <a:t>title</a:t>
            </a:r>
            <a:r>
              <a:rPr lang="en-US">
                <a:cs typeface="Arial" panose="020B0604020202020204" pitchFamily="34" charset="0"/>
              </a:rPr>
              <a:t>.</a:t>
            </a:r>
          </a:p>
          <a:p>
            <a:r>
              <a:rPr lang="en-US"/>
              <a:t>Phần menu có các chức năng tìm kiếm, lọc sản phẩm, đăng nhập, đăng ký,…</a:t>
            </a:r>
          </a:p>
          <a:p>
            <a:r>
              <a:rPr lang="en-US"/>
              <a:t>Phần trung </a:t>
            </a:r>
            <a:r>
              <a:rPr lang="vi-VN"/>
              <a:t>tâ</a:t>
            </a:r>
            <a:r>
              <a:rPr lang="en-US"/>
              <a:t>m gồm</a:t>
            </a:r>
            <a:r>
              <a:rPr lang="vi-VN"/>
              <a:t> các sản phẩm và mỗi sản phẩm có nút xem chi tiết</a:t>
            </a:r>
          </a:p>
          <a:p>
            <a:r>
              <a:rPr lang="vi-VN">
                <a:cs typeface="Arial" panose="020B0604020202020204" pitchFamily="34" charset="0"/>
              </a:rPr>
              <a:t>Phần footer có thông tin liên hệ.</a:t>
            </a:r>
            <a:endParaRPr lang="en-US" dirty="0">
              <a:cs typeface="Arial" panose="020B0604020202020204" pitchFamily="34" charset="0"/>
            </a:endParaRPr>
          </a:p>
        </p:txBody>
      </p:sp>
      <p:pic>
        <p:nvPicPr>
          <p:cNvPr id="5" name="Picture 4">
            <a:extLst>
              <a:ext uri="{FF2B5EF4-FFF2-40B4-BE49-F238E27FC236}">
                <a16:creationId xmlns:a16="http://schemas.microsoft.com/office/drawing/2014/main" id="{FD7C8E9A-5AE5-7938-6F8D-9134BBFB8005}"/>
              </a:ext>
            </a:extLst>
          </p:cNvPr>
          <p:cNvPicPr>
            <a:picLocks noChangeAspect="1"/>
          </p:cNvPicPr>
          <p:nvPr/>
        </p:nvPicPr>
        <p:blipFill>
          <a:blip r:embed="rId2"/>
          <a:stretch>
            <a:fillRect/>
          </a:stretch>
        </p:blipFill>
        <p:spPr>
          <a:xfrm>
            <a:off x="6341533" y="1470025"/>
            <a:ext cx="5572817" cy="2919095"/>
          </a:xfrm>
          <a:prstGeom prst="rect">
            <a:avLst/>
          </a:prstGeom>
        </p:spPr>
      </p:pic>
    </p:spTree>
    <p:extLst>
      <p:ext uri="{BB962C8B-B14F-4D97-AF65-F5344CB8AC3E}">
        <p14:creationId xmlns:p14="http://schemas.microsoft.com/office/powerpoint/2010/main" val="196442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6C201-87C1-8585-E55E-1050ADB9786F}"/>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endParaRPr lang="en-US" dirty="0"/>
          </a:p>
        </p:txBody>
      </p:sp>
      <p:sp>
        <p:nvSpPr>
          <p:cNvPr id="3" name="Content Placeholder 2">
            <a:extLst>
              <a:ext uri="{FF2B5EF4-FFF2-40B4-BE49-F238E27FC236}">
                <a16:creationId xmlns:a16="http://schemas.microsoft.com/office/drawing/2014/main" id="{C67BE755-07D1-7F31-BBA8-A044EE5979E2}"/>
              </a:ext>
            </a:extLst>
          </p:cNvPr>
          <p:cNvSpPr>
            <a:spLocks noGrp="1"/>
          </p:cNvSpPr>
          <p:nvPr>
            <p:ph idx="1"/>
          </p:nvPr>
        </p:nvSpPr>
        <p:spPr>
          <a:xfrm>
            <a:off x="922867" y="1368425"/>
            <a:ext cx="4978400" cy="4351338"/>
          </a:xfrm>
        </p:spPr>
        <p:txBody>
          <a:bodyPr>
            <a:normAutofit fontScale="92500"/>
          </a:bodyPr>
          <a:lstStyle/>
          <a:p>
            <a:pPr marL="0" indent="0">
              <a:buNone/>
            </a:pPr>
            <a:r>
              <a:rPr lang="vi-VN" dirty="0"/>
              <a:t>Giao diện đăng kí tài khoản:</a:t>
            </a:r>
          </a:p>
          <a:p>
            <a:pPr marL="0" indent="0">
              <a:buNone/>
            </a:pPr>
            <a:r>
              <a:rPr lang="vi-VN" dirty="0"/>
              <a:t>Giao diện đăng kí tài khoản có các ô để người dùng nhập thông tin để đăng kí tài khoản.</a:t>
            </a:r>
          </a:p>
          <a:p>
            <a:pPr>
              <a:buFont typeface="Symbol" panose="05050102010706020507" pitchFamily="18" charset="2"/>
              <a:buChar char="-"/>
            </a:pPr>
            <a:r>
              <a:rPr lang="vi-VN" dirty="0"/>
              <a:t> Họ và tên: Họ tên của người dùng(user name).</a:t>
            </a:r>
          </a:p>
          <a:p>
            <a:pPr>
              <a:buFont typeface="Symbol" panose="05050102010706020507" pitchFamily="18" charset="2"/>
              <a:buChar char="-"/>
            </a:pPr>
            <a:r>
              <a:rPr lang="vi-VN" dirty="0"/>
              <a:t>Email: Địa chỉ email của người dùng.</a:t>
            </a:r>
          </a:p>
          <a:p>
            <a:pPr>
              <a:buFont typeface="Symbol" panose="05050102010706020507" pitchFamily="18" charset="2"/>
              <a:buChar char="-"/>
            </a:pPr>
            <a:r>
              <a:rPr lang="vi-VN" dirty="0"/>
              <a:t>Mật khẩu: Mật khẩu để người dùng đăng nhập vào tài khoản.</a:t>
            </a:r>
            <a:endParaRPr lang="en-US" dirty="0"/>
          </a:p>
        </p:txBody>
      </p:sp>
      <p:pic>
        <p:nvPicPr>
          <p:cNvPr id="5" name="Picture 4">
            <a:extLst>
              <a:ext uri="{FF2B5EF4-FFF2-40B4-BE49-F238E27FC236}">
                <a16:creationId xmlns:a16="http://schemas.microsoft.com/office/drawing/2014/main" id="{10EADBA1-F220-02C7-2F6D-9C9D25FE2D7C}"/>
              </a:ext>
            </a:extLst>
          </p:cNvPr>
          <p:cNvPicPr>
            <a:picLocks noChangeAspect="1"/>
          </p:cNvPicPr>
          <p:nvPr/>
        </p:nvPicPr>
        <p:blipFill>
          <a:blip r:embed="rId2"/>
          <a:stretch>
            <a:fillRect/>
          </a:stretch>
        </p:blipFill>
        <p:spPr>
          <a:xfrm>
            <a:off x="6404192" y="1495955"/>
            <a:ext cx="5203608" cy="2813579"/>
          </a:xfrm>
          <a:prstGeom prst="rect">
            <a:avLst/>
          </a:prstGeom>
          <a:ln w="19050">
            <a:solidFill>
              <a:schemeClr val="tx1"/>
            </a:solidFill>
          </a:ln>
        </p:spPr>
      </p:pic>
    </p:spTree>
    <p:extLst>
      <p:ext uri="{BB962C8B-B14F-4D97-AF65-F5344CB8AC3E}">
        <p14:creationId xmlns:p14="http://schemas.microsoft.com/office/powerpoint/2010/main" val="2371828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5BFC2-E688-DC57-9BBF-603A3BD18BA7}"/>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endParaRPr lang="en-US" dirty="0"/>
          </a:p>
        </p:txBody>
      </p:sp>
      <p:sp>
        <p:nvSpPr>
          <p:cNvPr id="3" name="Content Placeholder 2">
            <a:extLst>
              <a:ext uri="{FF2B5EF4-FFF2-40B4-BE49-F238E27FC236}">
                <a16:creationId xmlns:a16="http://schemas.microsoft.com/office/drawing/2014/main" id="{2E5C37FF-C65B-FC7E-E102-4F60C5DABFF1}"/>
              </a:ext>
            </a:extLst>
          </p:cNvPr>
          <p:cNvSpPr>
            <a:spLocks noGrp="1"/>
          </p:cNvSpPr>
          <p:nvPr>
            <p:ph idx="1"/>
          </p:nvPr>
        </p:nvSpPr>
        <p:spPr>
          <a:xfrm>
            <a:off x="838200" y="1444625"/>
            <a:ext cx="6104467" cy="4351338"/>
          </a:xfrm>
        </p:spPr>
        <p:txBody>
          <a:bodyPr/>
          <a:lstStyle/>
          <a:p>
            <a:pPr marL="0" indent="0">
              <a:buNone/>
            </a:pPr>
            <a:r>
              <a:rPr lang="vi-VN" dirty="0"/>
              <a:t>Giao diện trang đăng nhập tài khoản:</a:t>
            </a:r>
          </a:p>
          <a:p>
            <a:pPr marL="0" indent="0">
              <a:buNone/>
            </a:pPr>
            <a:r>
              <a:rPr lang="vi-VN" dirty="0"/>
              <a:t>Trang đăng nhập có các ô để nhập thông tin để đăng nhập vào tài khoản của người dùng.</a:t>
            </a:r>
          </a:p>
          <a:p>
            <a:pPr>
              <a:buFont typeface="Symbol" panose="05050102010706020507" pitchFamily="18" charset="2"/>
              <a:buChar char="-"/>
            </a:pPr>
            <a:r>
              <a:rPr lang="vi-VN" dirty="0"/>
              <a:t>Email: Email mà người dùng đã đăng kí tài khoản.</a:t>
            </a:r>
          </a:p>
          <a:p>
            <a:pPr>
              <a:buFont typeface="Symbol" panose="05050102010706020507" pitchFamily="18" charset="2"/>
              <a:buChar char="-"/>
            </a:pPr>
            <a:r>
              <a:rPr lang="vi-VN" dirty="0"/>
              <a:t>Mật khẩu: Mật khẩu mà người dùng đã nhập khi đăng kí tài khoản.</a:t>
            </a:r>
            <a:endParaRPr lang="en-US" dirty="0"/>
          </a:p>
        </p:txBody>
      </p:sp>
      <p:pic>
        <p:nvPicPr>
          <p:cNvPr id="5" name="Picture 4">
            <a:extLst>
              <a:ext uri="{FF2B5EF4-FFF2-40B4-BE49-F238E27FC236}">
                <a16:creationId xmlns:a16="http://schemas.microsoft.com/office/drawing/2014/main" id="{1E5D8CDA-4DF0-9962-1322-7C73C8FCED15}"/>
              </a:ext>
            </a:extLst>
          </p:cNvPr>
          <p:cNvPicPr>
            <a:picLocks noChangeAspect="1"/>
          </p:cNvPicPr>
          <p:nvPr/>
        </p:nvPicPr>
        <p:blipFill>
          <a:blip r:embed="rId2"/>
          <a:stretch>
            <a:fillRect/>
          </a:stretch>
        </p:blipFill>
        <p:spPr>
          <a:xfrm>
            <a:off x="7163204" y="1961143"/>
            <a:ext cx="4612236" cy="2499098"/>
          </a:xfrm>
          <a:prstGeom prst="rect">
            <a:avLst/>
          </a:prstGeom>
          <a:solidFill>
            <a:schemeClr val="accent2"/>
          </a:solidFill>
          <a:ln>
            <a:solidFill>
              <a:schemeClr val="tx1"/>
            </a:solidFill>
          </a:ln>
        </p:spPr>
      </p:pic>
    </p:spTree>
    <p:extLst>
      <p:ext uri="{BB962C8B-B14F-4D97-AF65-F5344CB8AC3E}">
        <p14:creationId xmlns:p14="http://schemas.microsoft.com/office/powerpoint/2010/main" val="2357033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9CF9B-3B5C-3064-011A-FC7CE2223D5D}"/>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endParaRPr lang="en-US" dirty="0"/>
          </a:p>
        </p:txBody>
      </p:sp>
      <p:sp>
        <p:nvSpPr>
          <p:cNvPr id="3" name="Content Placeholder 2">
            <a:extLst>
              <a:ext uri="{FF2B5EF4-FFF2-40B4-BE49-F238E27FC236}">
                <a16:creationId xmlns:a16="http://schemas.microsoft.com/office/drawing/2014/main" id="{31F6FF6D-E045-D9F2-9D42-2F4F46322D5E}"/>
              </a:ext>
            </a:extLst>
          </p:cNvPr>
          <p:cNvSpPr>
            <a:spLocks noGrp="1"/>
          </p:cNvSpPr>
          <p:nvPr>
            <p:ph idx="1"/>
          </p:nvPr>
        </p:nvSpPr>
        <p:spPr>
          <a:xfrm>
            <a:off x="838200" y="1530985"/>
            <a:ext cx="5593080" cy="4351338"/>
          </a:xfrm>
        </p:spPr>
        <p:txBody>
          <a:bodyPr/>
          <a:lstStyle/>
          <a:p>
            <a:pPr marL="0" indent="0">
              <a:buNone/>
            </a:pPr>
            <a:r>
              <a:rPr lang="vi-VN" dirty="0"/>
              <a:t>Giao diện trang chi tiết sản phẩm:</a:t>
            </a:r>
          </a:p>
          <a:p>
            <a:pPr marL="0" indent="0">
              <a:buNone/>
            </a:pPr>
            <a:r>
              <a:rPr lang="vi-VN" dirty="0"/>
              <a:t>Trang chi tiết sản phẩm hiển thị các thông tin như hình ảnh sản phẩm, tên sản phẩm, mô tả sản phẩm, số sao, xuất sứ, cơ sở sản xuất, giá bán và nút thêm vào giỏ hàng.</a:t>
            </a:r>
          </a:p>
          <a:p>
            <a:pPr marL="0" indent="0">
              <a:buNone/>
            </a:pPr>
            <a:r>
              <a:rPr lang="vi-VN" dirty="0"/>
              <a:t>Bên phải còn có vị trí của cơ sở sản xuất.</a:t>
            </a:r>
            <a:endParaRPr lang="en-US" dirty="0"/>
          </a:p>
        </p:txBody>
      </p:sp>
      <p:pic>
        <p:nvPicPr>
          <p:cNvPr id="5" name="Picture 4">
            <a:extLst>
              <a:ext uri="{FF2B5EF4-FFF2-40B4-BE49-F238E27FC236}">
                <a16:creationId xmlns:a16="http://schemas.microsoft.com/office/drawing/2014/main" id="{591A9331-BC20-CDDB-5E41-B0BE7E13D3F5}"/>
              </a:ext>
            </a:extLst>
          </p:cNvPr>
          <p:cNvPicPr>
            <a:picLocks noChangeAspect="1"/>
          </p:cNvPicPr>
          <p:nvPr/>
        </p:nvPicPr>
        <p:blipFill>
          <a:blip r:embed="rId2"/>
          <a:stretch>
            <a:fillRect/>
          </a:stretch>
        </p:blipFill>
        <p:spPr>
          <a:xfrm>
            <a:off x="6656542" y="1825625"/>
            <a:ext cx="5393217" cy="2923827"/>
          </a:xfrm>
          <a:prstGeom prst="rect">
            <a:avLst/>
          </a:prstGeom>
        </p:spPr>
      </p:pic>
    </p:spTree>
    <p:extLst>
      <p:ext uri="{BB962C8B-B14F-4D97-AF65-F5344CB8AC3E}">
        <p14:creationId xmlns:p14="http://schemas.microsoft.com/office/powerpoint/2010/main" val="3033768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86D9-6308-7ECC-9582-92486EA22908}"/>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endParaRPr lang="en-US" dirty="0"/>
          </a:p>
        </p:txBody>
      </p:sp>
      <p:sp>
        <p:nvSpPr>
          <p:cNvPr id="3" name="Content Placeholder 2">
            <a:extLst>
              <a:ext uri="{FF2B5EF4-FFF2-40B4-BE49-F238E27FC236}">
                <a16:creationId xmlns:a16="http://schemas.microsoft.com/office/drawing/2014/main" id="{F5D4B0CD-25F2-8689-4C3E-80789765199B}"/>
              </a:ext>
            </a:extLst>
          </p:cNvPr>
          <p:cNvSpPr>
            <a:spLocks noGrp="1"/>
          </p:cNvSpPr>
          <p:nvPr>
            <p:ph idx="1"/>
          </p:nvPr>
        </p:nvSpPr>
        <p:spPr>
          <a:xfrm>
            <a:off x="838200" y="1432560"/>
            <a:ext cx="3916680" cy="4744403"/>
          </a:xfrm>
        </p:spPr>
        <p:txBody>
          <a:bodyPr/>
          <a:lstStyle/>
          <a:p>
            <a:pPr marL="0" indent="0">
              <a:buNone/>
            </a:pPr>
            <a:r>
              <a:rPr lang="vi-VN" dirty="0"/>
              <a:t>Giao diện giỏ hàng:</a:t>
            </a:r>
          </a:p>
          <a:p>
            <a:pPr marL="0" indent="0">
              <a:buNone/>
            </a:pPr>
            <a:r>
              <a:rPr lang="vi-VN" dirty="0"/>
              <a:t>Sau khi người dùng nhấn thêm giỏ hàng thì sản phẩm sẽ lưu vào giỏ hàng và hiển thị trên trang giỏ hàng.</a:t>
            </a:r>
            <a:endParaRPr lang="en-US" dirty="0"/>
          </a:p>
        </p:txBody>
      </p:sp>
      <p:pic>
        <p:nvPicPr>
          <p:cNvPr id="5" name="Picture 4">
            <a:extLst>
              <a:ext uri="{FF2B5EF4-FFF2-40B4-BE49-F238E27FC236}">
                <a16:creationId xmlns:a16="http://schemas.microsoft.com/office/drawing/2014/main" id="{C1C1696F-ABEA-746B-413B-9C222709E2FE}"/>
              </a:ext>
            </a:extLst>
          </p:cNvPr>
          <p:cNvPicPr>
            <a:picLocks noChangeAspect="1"/>
          </p:cNvPicPr>
          <p:nvPr/>
        </p:nvPicPr>
        <p:blipFill>
          <a:blip r:embed="rId2"/>
          <a:stretch>
            <a:fillRect/>
          </a:stretch>
        </p:blipFill>
        <p:spPr>
          <a:xfrm>
            <a:off x="5773009" y="1514795"/>
            <a:ext cx="5983063" cy="3219250"/>
          </a:xfrm>
          <a:prstGeom prst="rect">
            <a:avLst/>
          </a:prstGeom>
        </p:spPr>
      </p:pic>
    </p:spTree>
    <p:extLst>
      <p:ext uri="{BB962C8B-B14F-4D97-AF65-F5344CB8AC3E}">
        <p14:creationId xmlns:p14="http://schemas.microsoft.com/office/powerpoint/2010/main" val="2626556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388-4971-F485-9B62-C5CD022801CF}"/>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endParaRPr lang="en-US" dirty="0"/>
          </a:p>
        </p:txBody>
      </p:sp>
      <p:sp>
        <p:nvSpPr>
          <p:cNvPr id="3" name="Content Placeholder 2">
            <a:extLst>
              <a:ext uri="{FF2B5EF4-FFF2-40B4-BE49-F238E27FC236}">
                <a16:creationId xmlns:a16="http://schemas.microsoft.com/office/drawing/2014/main" id="{0608B876-AAC9-377D-457B-DC91EF6EA2BC}"/>
              </a:ext>
            </a:extLst>
          </p:cNvPr>
          <p:cNvSpPr>
            <a:spLocks noGrp="1"/>
          </p:cNvSpPr>
          <p:nvPr>
            <p:ph idx="1"/>
          </p:nvPr>
        </p:nvSpPr>
        <p:spPr>
          <a:xfrm>
            <a:off x="838200" y="1825625"/>
            <a:ext cx="4358640" cy="4351338"/>
          </a:xfrm>
        </p:spPr>
        <p:txBody>
          <a:bodyPr/>
          <a:lstStyle/>
          <a:p>
            <a:pPr marL="0" indent="0">
              <a:buNone/>
            </a:pPr>
            <a:r>
              <a:rPr lang="vi-VN" dirty="0"/>
              <a:t>Giao diện đặt hàng:</a:t>
            </a:r>
          </a:p>
          <a:p>
            <a:pPr marL="0" indent="0">
              <a:buNone/>
            </a:pPr>
            <a:r>
              <a:rPr lang="vi-VN" dirty="0"/>
              <a:t>Khi người dùng nhấn đặt hàng thì sẽ hiển thị ra form để người dùng nhập số điện thoại để liên lạc và địa chỉ.</a:t>
            </a:r>
          </a:p>
        </p:txBody>
      </p:sp>
      <p:pic>
        <p:nvPicPr>
          <p:cNvPr id="7" name="Picture 6">
            <a:extLst>
              <a:ext uri="{FF2B5EF4-FFF2-40B4-BE49-F238E27FC236}">
                <a16:creationId xmlns:a16="http://schemas.microsoft.com/office/drawing/2014/main" id="{A16B47A4-9661-D0D5-7E9F-D529ED0C219E}"/>
              </a:ext>
            </a:extLst>
          </p:cNvPr>
          <p:cNvPicPr>
            <a:picLocks noChangeAspect="1"/>
          </p:cNvPicPr>
          <p:nvPr/>
        </p:nvPicPr>
        <p:blipFill>
          <a:blip r:embed="rId2"/>
          <a:stretch>
            <a:fillRect/>
          </a:stretch>
        </p:blipFill>
        <p:spPr>
          <a:xfrm>
            <a:off x="5913119" y="1604323"/>
            <a:ext cx="6096001" cy="3277557"/>
          </a:xfrm>
          <a:prstGeom prst="rect">
            <a:avLst/>
          </a:prstGeom>
          <a:ln w="9525">
            <a:solidFill>
              <a:schemeClr val="tx1"/>
            </a:solidFill>
          </a:ln>
        </p:spPr>
      </p:pic>
    </p:spTree>
    <p:extLst>
      <p:ext uri="{BB962C8B-B14F-4D97-AF65-F5344CB8AC3E}">
        <p14:creationId xmlns:p14="http://schemas.microsoft.com/office/powerpoint/2010/main" val="1838678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A8580-B98E-3B5B-1BA0-1244CBA944BB}"/>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endParaRPr lang="en-US" dirty="0"/>
          </a:p>
        </p:txBody>
      </p:sp>
      <p:sp>
        <p:nvSpPr>
          <p:cNvPr id="3" name="Content Placeholder 2">
            <a:extLst>
              <a:ext uri="{FF2B5EF4-FFF2-40B4-BE49-F238E27FC236}">
                <a16:creationId xmlns:a16="http://schemas.microsoft.com/office/drawing/2014/main" id="{F0EE5830-FF91-E89B-521B-FF4D62F2EEB3}"/>
              </a:ext>
            </a:extLst>
          </p:cNvPr>
          <p:cNvSpPr>
            <a:spLocks noGrp="1"/>
          </p:cNvSpPr>
          <p:nvPr>
            <p:ph idx="1"/>
          </p:nvPr>
        </p:nvSpPr>
        <p:spPr>
          <a:xfrm>
            <a:off x="838200" y="1825625"/>
            <a:ext cx="5491480" cy="4351338"/>
          </a:xfrm>
        </p:spPr>
        <p:txBody>
          <a:bodyPr/>
          <a:lstStyle/>
          <a:p>
            <a:pPr marL="0" indent="0">
              <a:buNone/>
            </a:pPr>
            <a:r>
              <a:rPr lang="vi-VN" dirty="0"/>
              <a:t>Giao diện trang lịch sử đặt hàng:</a:t>
            </a:r>
          </a:p>
          <a:p>
            <a:pPr marL="0" indent="0">
              <a:buNone/>
            </a:pPr>
            <a:r>
              <a:rPr lang="vi-VN" dirty="0"/>
              <a:t>Sau khi nhấn xác nhận đặt hàng đơn đặt hàng sẽ được lưu vào lịch sử đặt hàng.</a:t>
            </a:r>
          </a:p>
          <a:p>
            <a:pPr marL="0" indent="0">
              <a:buNone/>
            </a:pPr>
            <a:endParaRPr lang="en-US" dirty="0"/>
          </a:p>
        </p:txBody>
      </p:sp>
      <p:pic>
        <p:nvPicPr>
          <p:cNvPr id="5" name="Picture 4">
            <a:extLst>
              <a:ext uri="{FF2B5EF4-FFF2-40B4-BE49-F238E27FC236}">
                <a16:creationId xmlns:a16="http://schemas.microsoft.com/office/drawing/2014/main" id="{5FBDFAC8-A45D-8BD3-81C4-F7ABDE9DCE7E}"/>
              </a:ext>
            </a:extLst>
          </p:cNvPr>
          <p:cNvPicPr>
            <a:picLocks noChangeAspect="1"/>
          </p:cNvPicPr>
          <p:nvPr/>
        </p:nvPicPr>
        <p:blipFill>
          <a:blip r:embed="rId2"/>
          <a:stretch>
            <a:fillRect/>
          </a:stretch>
        </p:blipFill>
        <p:spPr>
          <a:xfrm>
            <a:off x="6240266" y="1861343"/>
            <a:ext cx="5768854" cy="3135313"/>
          </a:xfrm>
          <a:prstGeom prst="rect">
            <a:avLst/>
          </a:prstGeom>
          <a:solidFill>
            <a:schemeClr val="tx1"/>
          </a:solidFill>
          <a:ln w="9525">
            <a:solidFill>
              <a:schemeClr val="tx1"/>
            </a:solidFill>
          </a:ln>
        </p:spPr>
      </p:pic>
    </p:spTree>
    <p:extLst>
      <p:ext uri="{BB962C8B-B14F-4D97-AF65-F5344CB8AC3E}">
        <p14:creationId xmlns:p14="http://schemas.microsoft.com/office/powerpoint/2010/main" val="4276897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D527-F1AC-AD9C-D236-000F1B046D3E}"/>
              </a:ext>
            </a:extLst>
          </p:cNvPr>
          <p:cNvSpPr>
            <a:spLocks noGrp="1"/>
          </p:cNvSpPr>
          <p:nvPr>
            <p:ph type="title"/>
          </p:nvPr>
        </p:nvSpPr>
        <p:spPr/>
        <p:txBody>
          <a:bodyPr/>
          <a:lstStyle/>
          <a:p>
            <a:pPr marL="742950" indent="-742950">
              <a:buFont typeface="+mj-lt"/>
              <a:buAutoNum type="arabicPeriod" startAt="4"/>
            </a:pPr>
            <a:r>
              <a:rPr lang="en-US" dirty="0">
                <a:latin typeface="Arial" panose="020B0604020202020204" pitchFamily="34" charset="0"/>
                <a:cs typeface="Arial" panose="020B0604020202020204" pitchFamily="34" charset="0"/>
              </a:rPr>
              <a:t>KẾT QUẢ NGHIÊN CỨU</a:t>
            </a:r>
            <a:endParaRPr lang="en-US" dirty="0"/>
          </a:p>
        </p:txBody>
      </p:sp>
      <p:sp>
        <p:nvSpPr>
          <p:cNvPr id="3" name="Content Placeholder 2">
            <a:extLst>
              <a:ext uri="{FF2B5EF4-FFF2-40B4-BE49-F238E27FC236}">
                <a16:creationId xmlns:a16="http://schemas.microsoft.com/office/drawing/2014/main" id="{632D9352-5717-93F4-434E-3BA959098184}"/>
              </a:ext>
            </a:extLst>
          </p:cNvPr>
          <p:cNvSpPr>
            <a:spLocks noGrp="1"/>
          </p:cNvSpPr>
          <p:nvPr>
            <p:ph idx="1"/>
          </p:nvPr>
        </p:nvSpPr>
        <p:spPr>
          <a:xfrm>
            <a:off x="838200" y="1825625"/>
            <a:ext cx="4810760" cy="4351338"/>
          </a:xfrm>
        </p:spPr>
        <p:txBody>
          <a:bodyPr/>
          <a:lstStyle/>
          <a:p>
            <a:pPr marL="0" indent="0">
              <a:buNone/>
            </a:pPr>
            <a:r>
              <a:rPr lang="vi-VN" dirty="0"/>
              <a:t>Giao diện trang quản lý:</a:t>
            </a:r>
          </a:p>
          <a:p>
            <a:pPr marL="0" indent="0">
              <a:buNone/>
            </a:pPr>
            <a:r>
              <a:rPr lang="vi-VN" dirty="0"/>
              <a:t>Trang quản lý của người quản trị có chứa các thông tin về sản phẩm, có các chức năng thêm, sửa, xóa sản phẩm để thay đổi trong quá trình website hoạt động.</a:t>
            </a:r>
          </a:p>
          <a:p>
            <a:pPr marL="0" indent="0">
              <a:buNone/>
            </a:pPr>
            <a:endParaRPr lang="en-US" dirty="0"/>
          </a:p>
        </p:txBody>
      </p:sp>
      <p:pic>
        <p:nvPicPr>
          <p:cNvPr id="5" name="Picture 4">
            <a:extLst>
              <a:ext uri="{FF2B5EF4-FFF2-40B4-BE49-F238E27FC236}">
                <a16:creationId xmlns:a16="http://schemas.microsoft.com/office/drawing/2014/main" id="{EA1AA815-CE11-0856-A5EB-F4E9815F85CA}"/>
              </a:ext>
            </a:extLst>
          </p:cNvPr>
          <p:cNvPicPr>
            <a:picLocks noChangeAspect="1"/>
          </p:cNvPicPr>
          <p:nvPr/>
        </p:nvPicPr>
        <p:blipFill>
          <a:blip r:embed="rId2"/>
          <a:stretch>
            <a:fillRect/>
          </a:stretch>
        </p:blipFill>
        <p:spPr>
          <a:xfrm>
            <a:off x="5872480" y="1990811"/>
            <a:ext cx="6096000" cy="3297469"/>
          </a:xfrm>
          <a:prstGeom prst="rect">
            <a:avLst/>
          </a:prstGeom>
          <a:ln w="9525">
            <a:solidFill>
              <a:schemeClr val="tx1"/>
            </a:solidFill>
          </a:ln>
        </p:spPr>
      </p:pic>
    </p:spTree>
    <p:extLst>
      <p:ext uri="{BB962C8B-B14F-4D97-AF65-F5344CB8AC3E}">
        <p14:creationId xmlns:p14="http://schemas.microsoft.com/office/powerpoint/2010/main" val="782206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E19D9-C53A-4AAE-B248-0185374D11AF}"/>
              </a:ext>
            </a:extLst>
          </p:cNvPr>
          <p:cNvSpPr>
            <a:spLocks noGrp="1"/>
          </p:cNvSpPr>
          <p:nvPr>
            <p:ph type="title"/>
          </p:nvPr>
        </p:nvSpPr>
        <p:spPr/>
        <p:txBody>
          <a:bodyPr/>
          <a:lstStyle/>
          <a:p>
            <a:pPr marL="742950" indent="-742950">
              <a:buFont typeface="+mj-lt"/>
              <a:buAutoNum type="arabicPeriod" startAt="5"/>
            </a:pPr>
            <a:r>
              <a:rPr lang="vi-VN" dirty="0">
                <a:latin typeface="Arial" panose="020B0604020202020204" pitchFamily="34" charset="0"/>
                <a:cs typeface="Arial" panose="020B0604020202020204" pitchFamily="34" charset="0"/>
              </a:rPr>
              <a:t>KẾT LUẬN VÀ HƯỚNG PHÁT TRIỂN</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F477105-0786-5B6D-2BE8-956171F0E80F}"/>
              </a:ext>
            </a:extLst>
          </p:cNvPr>
          <p:cNvSpPr>
            <a:spLocks noGrp="1"/>
          </p:cNvSpPr>
          <p:nvPr>
            <p:ph idx="1"/>
          </p:nvPr>
        </p:nvSpPr>
        <p:spPr/>
        <p:txBody>
          <a:bodyPr/>
          <a:lstStyle/>
          <a:p>
            <a:r>
              <a:rPr lang="vi-VN" dirty="0"/>
              <a:t>Kết luận:</a:t>
            </a:r>
          </a:p>
          <a:p>
            <a:r>
              <a:rPr lang="vi-VN" dirty="0"/>
              <a:t>Website đã hoàn thành các chức năng cơ bản: hiển thị thông tin, giao diện thân thiện, dễ sử dụng.</a:t>
            </a:r>
          </a:p>
          <a:p>
            <a:r>
              <a:rPr lang="vi-VN" dirty="0"/>
              <a:t>Đã đáp ứng nhu cầu người dùng như đăng nhập, tìm kiếm, lọc, xem nội dung, đặt hàng.</a:t>
            </a:r>
          </a:p>
          <a:p>
            <a:r>
              <a:rPr lang="vi-VN" dirty="0"/>
              <a:t>Website đã tạo nền tảng ban đầu để có thể mở rộng thêm nhiều tính năng nâng cao trong tương lai.</a:t>
            </a:r>
            <a:endParaRPr lang="en-US" dirty="0"/>
          </a:p>
        </p:txBody>
      </p:sp>
    </p:spTree>
    <p:extLst>
      <p:ext uri="{BB962C8B-B14F-4D97-AF65-F5344CB8AC3E}">
        <p14:creationId xmlns:p14="http://schemas.microsoft.com/office/powerpoint/2010/main" val="2016585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749F-99D6-9529-7D95-F55AD44579D1}"/>
              </a:ext>
            </a:extLst>
          </p:cNvPr>
          <p:cNvSpPr>
            <a:spLocks noGrp="1"/>
          </p:cNvSpPr>
          <p:nvPr>
            <p:ph type="title"/>
          </p:nvPr>
        </p:nvSpPr>
        <p:spPr/>
        <p:txBody>
          <a:bodyPr/>
          <a:lstStyle/>
          <a:p>
            <a:pPr marL="742950" indent="-742950">
              <a:buFont typeface="+mj-lt"/>
              <a:buAutoNum type="arabicPeriod" startAt="5"/>
            </a:pPr>
            <a:r>
              <a:rPr lang="vi-VN" dirty="0">
                <a:latin typeface="Arial" panose="020B0604020202020204" pitchFamily="34" charset="0"/>
                <a:cs typeface="Arial" panose="020B0604020202020204" pitchFamily="34" charset="0"/>
              </a:rPr>
              <a:t>KẾT LUẬN VÀ HƯỚNG PHÁT TRIỂN</a:t>
            </a:r>
            <a:endParaRPr lang="en-US" dirty="0"/>
          </a:p>
        </p:txBody>
      </p:sp>
      <p:sp>
        <p:nvSpPr>
          <p:cNvPr id="3" name="Content Placeholder 2">
            <a:extLst>
              <a:ext uri="{FF2B5EF4-FFF2-40B4-BE49-F238E27FC236}">
                <a16:creationId xmlns:a16="http://schemas.microsoft.com/office/drawing/2014/main" id="{B8A4405F-CF0D-813F-ECB7-AA1E88CC12FA}"/>
              </a:ext>
            </a:extLst>
          </p:cNvPr>
          <p:cNvSpPr>
            <a:spLocks noGrp="1"/>
          </p:cNvSpPr>
          <p:nvPr>
            <p:ph idx="1"/>
          </p:nvPr>
        </p:nvSpPr>
        <p:spPr/>
        <p:txBody>
          <a:bodyPr/>
          <a:lstStyle/>
          <a:p>
            <a:pPr marL="0" indent="0">
              <a:buNone/>
            </a:pPr>
            <a:r>
              <a:rPr lang="vi-VN" dirty="0"/>
              <a:t>Hướng phát triển:</a:t>
            </a:r>
          </a:p>
          <a:p>
            <a:pPr marL="0" indent="0">
              <a:buNone/>
            </a:pPr>
            <a:r>
              <a:rPr lang="vi-VN" dirty="0"/>
              <a:t>Phát triển khả năng cá nhân hóa theo từng người dùng.</a:t>
            </a:r>
          </a:p>
          <a:p>
            <a:pPr marL="0" indent="0">
              <a:buNone/>
            </a:pPr>
            <a:r>
              <a:rPr lang="vi-VN" dirty="0"/>
              <a:t>Tăng cường bảo mật để bảo vệ các thông tin của website.</a:t>
            </a:r>
          </a:p>
          <a:p>
            <a:pPr marL="0" indent="0">
              <a:buNone/>
            </a:pPr>
            <a:r>
              <a:rPr lang="vi-VN" dirty="0"/>
              <a:t>Tích hợp chức năng thanh toán để website có thể hoạt động như một trang thương mại điện tử.</a:t>
            </a:r>
          </a:p>
          <a:p>
            <a:pPr marL="0" indent="0">
              <a:buNone/>
            </a:pPr>
            <a:r>
              <a:rPr lang="vi-VN" dirty="0"/>
              <a:t>Phát triển thêm hệ thống hổ trợ, chăm sóc khách hàng.</a:t>
            </a:r>
            <a:endParaRPr lang="en-US" dirty="0"/>
          </a:p>
        </p:txBody>
      </p:sp>
    </p:spTree>
    <p:extLst>
      <p:ext uri="{BB962C8B-B14F-4D97-AF65-F5344CB8AC3E}">
        <p14:creationId xmlns:p14="http://schemas.microsoft.com/office/powerpoint/2010/main" val="60298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FE4EE8-BE34-220F-27D2-4648A2FABF0D}"/>
              </a:ext>
            </a:extLst>
          </p:cNvPr>
          <p:cNvSpPr>
            <a:spLocks noGrp="1"/>
          </p:cNvSpPr>
          <p:nvPr>
            <p:ph idx="1"/>
          </p:nvPr>
        </p:nvSpPr>
        <p:spPr>
          <a:xfrm>
            <a:off x="838200" y="1253331"/>
            <a:ext cx="10515600" cy="4351338"/>
          </a:xfrm>
        </p:spPr>
        <p:txBody>
          <a:bodyPr/>
          <a:lstStyle/>
          <a:p>
            <a:pPr marL="0" indent="0" algn="ctr">
              <a:buNone/>
            </a:pPr>
            <a:r>
              <a:rPr lang="en-US" sz="6000" dirty="0"/>
              <a:t>XIN CHÂN THÀNH CẢM ƠN QUÝ THẦY, CÔ ĐÃ CHÚ Ý LẮNG NGHE </a:t>
            </a:r>
          </a:p>
          <a:p>
            <a:pPr marL="0" indent="0">
              <a:buNone/>
            </a:pPr>
            <a:endParaRPr lang="en-US" dirty="0"/>
          </a:p>
        </p:txBody>
      </p:sp>
    </p:spTree>
    <p:extLst>
      <p:ext uri="{BB962C8B-B14F-4D97-AF65-F5344CB8AC3E}">
        <p14:creationId xmlns:p14="http://schemas.microsoft.com/office/powerpoint/2010/main" val="3061004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TotalTime>
  <Words>1525</Words>
  <Application>Microsoft Office PowerPoint</Application>
  <PresentationFormat>Widescreen</PresentationFormat>
  <Paragraphs>103</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Symbol</vt:lpstr>
      <vt:lpstr>Office Theme</vt:lpstr>
      <vt:lpstr>TRƯỜNG KỸ THUẬT VÀ CÔNG NGHỆ  KHOA CÔNG NGHỆ THÔNG TIN</vt:lpstr>
      <vt:lpstr>NỘI DUNG</vt:lpstr>
      <vt:lpstr>TỔNG QUAN VỀ ĐỀ TÀI</vt:lpstr>
      <vt:lpstr>TỔNG QUAN VỀ ĐỀ TÀI</vt:lpstr>
      <vt:lpstr>TỔNG QUAN VỀ ĐỀ TÀI</vt:lpstr>
      <vt:lpstr>CƠ SỞ LÝ THUYẾT</vt:lpstr>
      <vt:lpstr>CƠ SỞ LÝ THUYẾT</vt:lpstr>
      <vt:lpstr>CƠ SỞ LÝ THUYẾT</vt:lpstr>
      <vt:lpstr>HIỆN THỰC HÓA NGHIÊN CỨU</vt:lpstr>
      <vt:lpstr>HIỆN THỰC HÓA NGHIÊN CỨU</vt:lpstr>
      <vt:lpstr>HIỆN THỰC HÓA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LUẬN VÀ HƯỚNG PHÁT TRIỂN</vt:lpstr>
      <vt:lpstr>KẾT LUẬN VÀ HƯỚNG PHÁT TRIỂN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DANG THAI BAO</dc:creator>
  <cp:lastModifiedBy>DANG THAI BAO</cp:lastModifiedBy>
  <cp:revision>5</cp:revision>
  <dcterms:created xsi:type="dcterms:W3CDTF">2026-01-11T13:41:31Z</dcterms:created>
  <dcterms:modified xsi:type="dcterms:W3CDTF">2026-01-12T16:00:58Z</dcterms:modified>
</cp:coreProperties>
</file>